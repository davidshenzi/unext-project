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Calibri"/>
              </a:rPr>
              <a:t>UNeXt: MLP-based Rapid Medical
Image Segmentation Network</a:t>
            </a:r>
          </a:p>
          <a:p>
            <a:r>
              <a:rPr sz="1500" b="0" i="0">
                <a:solidFill>
                  <a:srgbClr val="555555"/>
                </a:solidFill>
                <a:latin typeface="Calibri"/>
              </a:rPr>
              <a:t>Valanarasu &amp; Patel, Johns Hopkins University — MICCAI 2022 (arXiv:2203.04967, March 2022)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2834640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1568"/>
                <a:gridCol w="2267712"/>
              </a:tblGrid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Group members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&lt;NAME 1&gt;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&lt;ID 1&gt;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&lt;NAME 2&gt;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&lt;ID 2&gt;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&lt;NAME 3&gt;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&lt;ID 3&gt;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766560" y="28346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Code: </a:t>
            </a:r>
            <a:r>
              <a:rPr sz="1400" b="0" i="0">
                <a:solidFill>
                  <a:srgbClr val="555555"/>
                </a:solidFill>
                <a:latin typeface="Calibri"/>
              </a:rPr>
              <a:t>&lt;GITHUB / DRIVE LINK&gt;</a:t>
            </a:r>
          </a:p>
          <a:p>
            <a:pPr>
              <a:spcAft>
                <a:spcPts val="14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Video: </a:t>
            </a:r>
            <a:r>
              <a:rPr sz="1400" b="0" i="0">
                <a:solidFill>
                  <a:srgbClr val="555555"/>
                </a:solidFill>
                <a:latin typeface="Calibri"/>
              </a:rPr>
              <a:t>&lt;UNLISTED YOUTUBE LINK&gt;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99632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55555"/>
                </a:solidFill>
                <a:latin typeface="Calibri"/>
              </a:rPr>
              <a:t>Fill in all placeholders before submitting — missing items are penalised. Paste the video link in this slide's comment section as well.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00000"/>
                </a:solidFill>
                <a:latin typeface="Calibri"/>
              </a:rPr>
              <a:t>Motivation: segmentation at the point of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Medical image segmentation guides diagnosis — outlining a lesion in an ultrasound scan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U-Net and its successors are accurate, but </a:t>
            </a:r>
            <a:r>
              <a:rPr sz="1600" b="1" i="0">
                <a:solidFill>
                  <a:srgbClr val="000000"/>
                </a:solidFill>
                <a:latin typeface="Calibri"/>
              </a:rPr>
              <a:t>parameter-heavy and slow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Point-of-care use — a handheld probe, a clinic laptop, a field device — needs inference on </a:t>
            </a:r>
            <a:r>
              <a:rPr sz="1600" b="1" i="0">
                <a:solidFill>
                  <a:srgbClr val="000000"/>
                </a:solidFill>
                <a:latin typeface="Calibri"/>
              </a:rPr>
              <a:t>CPU, in seconds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, not a datacenter GPU</a:t>
            </a:r>
          </a:p>
          <a:p>
            <a:pPr lvl="1">
              <a:spcAft>
                <a:spcPts val="10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TransUNet: 105.32 M parameters, 38.52 GFLOPs, </a:t>
            </a:r>
            <a:r>
              <a:rPr sz="1500" b="1" i="0">
                <a:solidFill>
                  <a:srgbClr val="555555"/>
                </a:solidFill>
                <a:latin typeface="Calibri"/>
              </a:rPr>
              <a:t>246 ms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per image on CPU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The question: </a:t>
            </a:r>
            <a:r>
              <a:rPr sz="1600" b="1" i="0">
                <a:solidFill>
                  <a:srgbClr val="000000"/>
                </a:solidFill>
                <a:latin typeface="Calibri"/>
              </a:rPr>
              <a:t>can we keep the accuracy at a fraction of the cost?</a:t>
            </a:r>
          </a:p>
        </p:txBody>
      </p:sp>
      <p:pic>
        <p:nvPicPr>
          <p:cNvPr id="4" name="Picture 3" descr="fig5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047" y="3200400"/>
            <a:ext cx="51816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00000"/>
                </a:solidFill>
                <a:latin typeface="Calibri"/>
              </a:rPr>
              <a:t>The solution: UNeXt</a:t>
            </a:r>
          </a:p>
          <a:p>
            <a:r>
              <a:rPr sz="1400" b="0" i="1">
                <a:solidFill>
                  <a:srgbClr val="555555"/>
                </a:solidFill>
                <a:latin typeface="Calibri"/>
              </a:rPr>
              <a:t>U-Net shape — but the deep layers use MLPs, not convolution or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Conv stage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(3 shallow levels) — Conv3×3 → BN → ReLU, narrow channels (16/32/128)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Tokenized MLP stage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(2 deep levels) — features are tokenized, then passed through shifted MLPs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Skip connections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join matching encoder and decoder levels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Why MLPs?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Self-attention costs O(n²) in the number of tokens. MLPs are plain matrix multiplies — far cheaper.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000000"/>
                </a:solidFill>
                <a:latin typeface="Calibri"/>
              </a:rPr>
              <a:t>The catch: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an MLP is spatially blind. It has no notion of "adjacent pixel".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99632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55555"/>
                </a:solidFill>
                <a:latin typeface="Calibri"/>
              </a:rPr>
              <a:t>Architecture figure: insert unext/imgs/unext.png from the official repository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00000"/>
                </a:solidFill>
                <a:latin typeface="Calibri"/>
              </a:rPr>
              <a:t>The key trick: shifted MLPs</a:t>
            </a:r>
          </a:p>
          <a:p>
            <a:r>
              <a:rPr sz="1400" b="0" i="1">
                <a:solidFill>
                  <a:srgbClr val="555555"/>
                </a:solidFill>
                <a:latin typeface="Calibri"/>
              </a:rPr>
              <a:t>How UNeXt gives an MLP a sense of locality — for free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Before each Linear layer, feature-map chunks are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cyclically shifted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(torch.roll, ±2 px) along height, then width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A depthwise convolution sits between the two Linear layers as positional encoding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Each token now mixes with its actual spatial neighbours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before projection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Cost: zero extra parameters, zero extra FLOPs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— it is pure indexing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566160"/>
          <a:ext cx="11094413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2465425"/>
                <a:gridCol w="2465425"/>
                <a:gridCol w="2465425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Paper's reported results (BUSI)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UNeXt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TransUNet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1.47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105.32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72× fewer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GFLOPs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0.57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38.52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68× less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CPU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25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246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10× faster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IoU /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0.6695 / 0.7937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lower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p &lt; 10⁻⁵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99632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55555"/>
                </a:solidFill>
                <a:latin typeface="Calibri"/>
              </a:rPr>
              <a:t>This locality bias is why UNeXt trains from scratch without ImageNet pretraining, unlike ViT-based medical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00000"/>
                </a:solidFill>
                <a:latin typeface="Calibri"/>
              </a:rPr>
              <a:t>Our setup</a:t>
            </a:r>
          </a:p>
          <a:p>
            <a:r>
              <a:rPr sz="1400" b="0" i="1">
                <a:solidFill>
                  <a:srgbClr val="555555"/>
                </a:solidFill>
                <a:latin typeface="Calibri"/>
              </a:rPr>
              <a:t>BUSI · RTX 5060 Laptop · 11 training runs · ~10 h GPU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Dataset: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BUSI breast ultrasound — 647 images (437 benign + 210 malignant), 80/20 split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Protocol: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the authors' exact README command, then controlled variations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Getting a 2022 repo to run in 2026: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removed an unused mmcv import, updated timm and albumentations APIs, and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wrote the dataset preprocessing ourselves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— the repo ships none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200400"/>
          <a:ext cx="7680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920240"/>
                <a:gridCol w="19202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Sanity check — does our implementation match?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1,471,921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1.47 M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GFLOPs @ 256×256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0.577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0.57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CPU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12.5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25 ms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99632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55555"/>
                </a:solidFill>
                <a:latin typeface="Calibri"/>
              </a:rPr>
              <a:t>This matters: the architecture reproduces exactly, so any accuracy gap that follows is NOT a broken implementation.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00000"/>
                </a:solidFill>
                <a:latin typeface="Calibri"/>
              </a:rPr>
              <a:t>We could not reproduce the reported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9441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Running the authors'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exact command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(512×512, 500 epochs, lr 1e-4, batch 8):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IoU 0.5956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vs the paper's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0.6695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Six runs across four configurations all land in 0.569 – 0.602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3-split mean (the paper's own protocol):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0.5931 ± 0.0210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— short by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0.076 IoU</a:t>
            </a:r>
          </a:p>
        </p:txBody>
      </p:sp>
      <p:pic>
        <p:nvPicPr>
          <p:cNvPr id="4" name="Picture 3" descr="fig2_repro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607" y="2651760"/>
            <a:ext cx="5364480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99632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55555"/>
                </a:solidFill>
                <a:latin typeface="Calibri"/>
              </a:rPr>
              <a:t>And there are no official weights to check against: the repo ships none, and GitHub issues #11 (Apr 2022) and #21 (Jul 2022) requesting them are still open and unanswered.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00000"/>
                </a:solidFill>
                <a:latin typeface="Calibri"/>
              </a:rPr>
              <a:t>Five hypotheses, systematically eliminated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441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323"/>
                <a:gridCol w="3586073"/>
                <a:gridCol w="2465425"/>
                <a:gridCol w="4482591"/>
              </a:tblGrid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Hypothesis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How we tested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Wrong resolution (256 vs 512)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ran both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512 was worse (0.5956 vs 0.5975)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Mixed precision hurt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AMP vs FP32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tied at every 50-epoch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Wrong decision 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swept 0.3 – 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flat; 0.5 already optimal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Unlucky split composition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checked 3 seeds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balanced on class + lesion 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Split averaging (paper = mean of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ran 3 splits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spread 0.039 vs gap 0.076 → 3.6σ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663440"/>
            <a:ext cx="110944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Hypothesis 5 is decisive: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split-to-split variation is ~3.6× too small to explain the gap. Even our best single split (0.6085) falls well short of 0.6695.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Conclusion: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the gap is real and systematic — not a configuration mistake on our side.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00000"/>
                </a:solidFill>
                <a:latin typeface="Calibri"/>
              </a:rPr>
              <a:t>Diagnosis: the model overfits badly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9441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Validation IoU peaks at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epoch ~95–107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, then declines for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300+ epochs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Final train IoU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0.87–0.91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vs validation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0.56–0.58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→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+0.31 generalization gap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Root cause: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the paper augments with rotate90 + flips only — not enough for 518 training images</a:t>
            </a:r>
          </a:p>
        </p:txBody>
      </p:sp>
      <p:pic>
        <p:nvPicPr>
          <p:cNvPr id="4" name="Picture 3" descr="fig1_overfi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047" y="2697480"/>
            <a:ext cx="568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00000"/>
                </a:solidFill>
                <a:latin typeface="Calibri"/>
              </a:rPr>
              <a:t>Our fix: stronger augmentation</a:t>
            </a:r>
          </a:p>
          <a:p>
            <a:r>
              <a:rPr sz="1400" b="0" i="1">
                <a:solidFill>
                  <a:srgbClr val="555555"/>
                </a:solidFill>
                <a:latin typeface="Calibri"/>
              </a:rPr>
              <a:t>Added affine, brightness/contrast, gamma and elastic deformation</a:t>
            </a:r>
          </a:p>
        </p:txBody>
      </p:sp>
      <p:pic>
        <p:nvPicPr>
          <p:cNvPr id="3" name="Picture 2" descr="fig3_aug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1325880"/>
            <a:ext cx="10424160" cy="4074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114800"/>
            <a:ext cx="1109441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Mean IoU 0.5931 → 0.6328 (+0.040).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All three splits improved. Gap to paper halved: 0.076 → 0.037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Overfitting gap cut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60%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; Dice variance collapsed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15×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(±0.0202 → ±0.0013)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Honest caveat: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at a *matched* 100-epoch budget augmentation gives no gain. It does not converge faster — it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removes the ceiling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, letting training run to ep282–390.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00000"/>
                </a:solidFill>
                <a:latin typeface="Calibri"/>
              </a:rPr>
              <a:t>Architectural modifications: a negative result</a:t>
            </a:r>
          </a:p>
          <a:p>
            <a:r>
              <a:rPr sz="1400" b="0" i="1">
                <a:solidFill>
                  <a:srgbClr val="555555"/>
                </a:solidFill>
                <a:latin typeface="Calibri"/>
              </a:rPr>
              <a:t>Both grafted onto our best model and fine-tuned with the backbone frozen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08760"/>
          <a:ext cx="1060703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505"/>
                <a:gridCol w="2368562"/>
                <a:gridCol w="2883467"/>
                <a:gridCol w="2677505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</a:rPr>
                        <a:t>SE 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</a:rPr>
                        <a:t>Skip-Fusion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</a:rPr>
                        <a:t>Focal Tversky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</a:rPr>
                        <a:t>What it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</a:rPr>
                        <a:t>per-channel gating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</a:rPr>
                        <a:t>gate on skip connections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</a:rPr>
                        <a:t>the loss function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</a:rPr>
                        <a:t>New parameters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</a:rPr>
                        <a:t>8,160 (0.55%)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</a:rPr>
                        <a:t>86,864 (5.57%)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</a:rPr>
                        <a:t>Extra compute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Calibri"/>
                        </a:rPr>
                        <a:t>+11% GFLOPs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</a:rPr>
                        <a:t>Change in IoU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</a:rPr>
                        <a:t>+0.006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</a:rPr>
                        <a:t>+0.017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749039"/>
            <a:ext cx="11094415" cy="2651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000000"/>
                </a:solidFill>
                <a:latin typeface="Calibri"/>
              </a:rPr>
              <a:t>The two architectural changes barely moved the number.</a:t>
            </a:r>
            <a:r>
              <a:rPr sz="1350" b="0" i="0">
                <a:solidFill>
                  <a:srgbClr val="000000"/>
                </a:solidFill>
                <a:latin typeface="Calibri"/>
              </a:rPr>
              <a:t> Skip-Fusion's +0.006 is half our split-to-split noise (±0.013) — and costs 11% more compute on a network whose entire selling point is efficiency.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000000"/>
                </a:solidFill>
                <a:latin typeface="Calibri"/>
              </a:rPr>
              <a:t>Why they failed is the interesting part.</a:t>
            </a:r>
            <a:r>
              <a:rPr sz="1350" b="0" i="0">
                <a:solidFill>
                  <a:srgbClr val="000000"/>
                </a:solidFill>
                <a:latin typeface="Calibri"/>
              </a:rPr>
              <a:t> We measured the gradient reaching each new layer: SE received </a:t>
            </a:r>
            <a:r>
              <a:rPr sz="1350" b="1" i="0">
                <a:solidFill>
                  <a:srgbClr val="000000"/>
                </a:solidFill>
                <a:latin typeface="Calibri"/>
              </a:rPr>
              <a:t>exactly 0.000000</a:t>
            </a:r>
            <a:r>
              <a:rPr sz="1350" b="0" i="0">
                <a:solidFill>
                  <a:srgbClr val="000000"/>
                </a:solidFill>
                <a:latin typeface="Calibri"/>
              </a:rPr>
              <a:t> — on a converged model the network has no use for channel reweighting. Skip-Fusion received real signal (1e-3), and did slightly better.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000000"/>
                </a:solidFill>
                <a:latin typeface="Calibri"/>
              </a:rPr>
              <a:t>The change that worked best altered no layers at all</a:t>
            </a:r>
            <a:r>
              <a:rPr sz="1350" b="0" i="0">
                <a:solidFill>
                  <a:srgbClr val="000000"/>
                </a:solidFill>
                <a:latin typeface="Calibri"/>
              </a:rPr>
              <a:t> — swapping Dice for Focal Tversky in the loss raised IoU by +0.017 for </a:t>
            </a:r>
            <a:r>
              <a:rPr sz="1350" b="1" i="0">
                <a:solidFill>
                  <a:srgbClr val="000000"/>
                </a:solidFill>
                <a:latin typeface="Calibri"/>
              </a:rPr>
              <a:t>zero parameters and zero FLOPs</a:t>
            </a:r>
            <a:r>
              <a:rPr sz="1350" b="0" i="0">
                <a:solidFill>
                  <a:srgbClr val="00000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00000"/>
                </a:solidFill>
                <a:latin typeface="Calibri"/>
              </a:rPr>
              <a:t>The best modification changed no layers at all</a:t>
            </a:r>
          </a:p>
          <a:p>
            <a:r>
              <a:rPr sz="1400" b="0" i="1">
                <a:solidFill>
                  <a:srgbClr val="555555"/>
                </a:solidFill>
                <a:latin typeface="Calibri"/>
              </a:rPr>
              <a:t>Focal Tversky loss — zero parameters, zero FLOPs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Dice loss treats both errors equally: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marking healthy tissue as tumour, and missing real tumour. Clinically these are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not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equally bad.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Tversky loss makes the trade-off tunable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(α=0.3, β=0.7) — missing a lesion is weighted more heavily. The focal term then concentrates training on hard images.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651760"/>
          <a:ext cx="1024127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3692"/>
                <a:gridCol w="2363372"/>
                <a:gridCol w="2954215"/>
              </a:tblGrid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Seed 43 (identical config, loss swapped)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BCE+Dice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Focal Tversky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Best IoU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0.6464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0.6629  (+0.017)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Dice (aggregate)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0.7798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0.7906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Recall — of true tumour pixels, fraction found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0.7882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0.8536  (+0.065)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Precision — of predicted pixels, fraction correct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0.7928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0.7510  (−0.042)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Parameters / GFLOPs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1.47 M / 0.577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identical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21208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 i="0">
                <a:solidFill>
                  <a:srgbClr val="000000"/>
                </a:solidFill>
                <a:latin typeface="Calibri"/>
              </a:rPr>
              <a:t>The mechanism worked as designed — a large recall gain for a smaller precision cost, which is the right trade when missing a tumour is worse than a false alarm.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000000"/>
                </a:solidFill>
                <a:latin typeface="Calibri"/>
              </a:rPr>
              <a:t>Caveat:</a:t>
            </a:r>
            <a:r>
              <a:rPr sz="1350" b="0" i="0">
                <a:solidFill>
                  <a:srgbClr val="000000"/>
                </a:solidFill>
                <a:latin typeface="Calibri"/>
              </a:rPr>
              <a:t> replicated on 2 of 3 splits so far (+0.017, +0.018); the third is still running. Promising, not yet proven.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00000"/>
                </a:solidFill>
                <a:latin typeface="Calibri"/>
              </a:rP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1. A real bug in the upstream code.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dataset.py divides by 255 *after* Normalize() has already applied ImageNet statistics — squashing inputs from ±2.5 into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±0.01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and discarding most of the signal. Found by inspecting tensors, not from any error.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2. Frozen BatchNorm is not frozen.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requires_grad=False stops gradients but not the running mean/variance buffers — our "frozen" backbone would have drifted silently, invalidating the attribution.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3. Identity-grafting is delicate.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Inserting SE naively halves every activation; initialising too conservatively saturates the sigmoid so it cannot learn. Starting as an exact identity *and* staying trainable took several attempts.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4. A 2022 repo on a 2026 stack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— dead dependencies, and no released weights to validate against.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00000"/>
                </a:solidFill>
                <a:latin typeface="Calibri"/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What reproduced — the efficiency claims, exactly.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1,471,921 parameters (paper: 1.47 M), 0.577 GFLOPs (paper: 0.57), 12.5 ms on CPU. UNeXt really is 72× smaller than TransUNet.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What did not — the accuracy.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0.593 vs 0.669 IoU, across six runs, with five explanations eliminated and no released weights to check against.</a:t>
            </a:r>
          </a:p>
          <a:p>
            <a:pPr>
              <a:spcAft>
                <a:spcPts val="1100"/>
              </a:spcAft>
            </a:pP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What we learned:</a:t>
            </a:r>
          </a:p>
          <a:p>
            <a:pPr lvl="1">
              <a:spcAft>
                <a:spcPts val="11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The likely cause is </a:t>
            </a:r>
            <a:r>
              <a:rPr sz="1400" b="1" i="0">
                <a:solidFill>
                  <a:srgbClr val="555555"/>
                </a:solidFill>
                <a:latin typeface="Calibri"/>
              </a:rPr>
              <a:t>under-regularization</a:t>
            </a:r>
            <a:r>
              <a:rPr sz="1400" b="0" i="0">
                <a:solidFill>
                  <a:srgbClr val="555555"/>
                </a:solidFill>
                <a:latin typeface="Calibri"/>
              </a:rPr>
              <a:t> — the paper's augmentation cannot support 518 training images, and every run overfits hard</a:t>
            </a:r>
          </a:p>
          <a:p>
            <a:pPr lvl="1">
              <a:spcAft>
                <a:spcPts val="11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Fixing that recovers </a:t>
            </a:r>
            <a:r>
              <a:rPr sz="1400" b="1" i="0">
                <a:solidFill>
                  <a:srgbClr val="555555"/>
                </a:solidFill>
                <a:latin typeface="Calibri"/>
              </a:rPr>
              <a:t>half the gap</a:t>
            </a:r>
            <a:r>
              <a:rPr sz="1400" b="0" i="0">
                <a:solidFill>
                  <a:srgbClr val="555555"/>
                </a:solidFill>
                <a:latin typeface="Calibri"/>
              </a:rPr>
              <a:t> (+0.040 IoU, all three splits)</a:t>
            </a:r>
          </a:p>
          <a:p>
            <a:pPr lvl="1">
              <a:spcAft>
                <a:spcPts val="11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The architectural modifications from follow-up papers recovered </a:t>
            </a:r>
            <a:r>
              <a:rPr sz="1400" b="1" i="0">
                <a:solidFill>
                  <a:srgbClr val="555555"/>
                </a:solidFill>
                <a:latin typeface="Calibri"/>
              </a:rPr>
              <a:t>essentially nothing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5321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000000"/>
                </a:solidFill>
                <a:latin typeface="Calibri"/>
              </a:rPr>
              <a:t>Takeaway: for this network on this dataset, the training recipe mattered far more than the architecture.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00000"/>
                </a:solidFill>
                <a:latin typeface="Calibri"/>
              </a:rPr>
              <a:t>Appendix: qualitative results</a:t>
            </a:r>
          </a:p>
          <a:p>
            <a:r>
              <a:rPr sz="1400" b="0" i="1">
                <a:solidFill>
                  <a:srgbClr val="555555"/>
                </a:solidFill>
                <a:latin typeface="Calibri"/>
              </a:rPr>
              <a:t>Best, median and worst cases from the held-out split</a:t>
            </a:r>
          </a:p>
        </p:txBody>
      </p:sp>
      <p:pic>
        <p:nvPicPr>
          <p:cNvPr id="3" name="Picture 2" descr="fig4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924" y="1234440"/>
            <a:ext cx="4747846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99632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55555"/>
                </a:solidFill>
                <a:latin typeface="Calibri"/>
              </a:rPr>
              <a:t>The failure case (bottom): the model responds to hypoechoic regions at the top of the image while missing the small true lesion — small lesions on noisy scans remain hard.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