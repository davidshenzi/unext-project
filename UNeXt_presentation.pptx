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340140"/>
              </p:ext>
            </p:extLst>
          </p:nvPr>
        </p:nvGraphicFramePr>
        <p:xfrm>
          <a:off x="548640" y="2834640"/>
          <a:ext cx="5669280" cy="182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Ido Leibowitz</a:t>
                      </a:r>
                      <a:endParaRPr lang="en-US" sz="1400" b="0" i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---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Ze'ev </a:t>
                      </a:r>
                      <a:r>
                        <a:rPr lang="en-US" sz="1400" dirty="0" err="1"/>
                        <a:t>Gastevert</a:t>
                      </a:r>
                      <a:endParaRPr lang="en-US" sz="1400" b="0" i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---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David Sheinenzon</a:t>
                      </a:r>
                      <a:endParaRPr lang="en-US" sz="1400" b="0" i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  <a:p>
                      <a:pPr algn="l"/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---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979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400"/>
              </a:spcAft>
            </a:pPr>
            <a:r>
              <a:rPr lang="en-US" sz="1400" b="1" dirty="0">
                <a:solidFill>
                  <a:srgbClr val="000000"/>
                </a:solidFill>
              </a:rPr>
              <a:t>Code: </a:t>
            </a:r>
            <a:r>
              <a:rPr lang="en-US" sz="1400" dirty="0">
                <a:solidFill>
                  <a:srgbClr val="555555"/>
                </a:solidFill>
              </a:rPr>
              <a:t>https://github.com/DavidShenzi/unext-project</a:t>
            </a:r>
          </a:p>
          <a:p>
            <a:pPr>
              <a:spcAft>
                <a:spcPts val="14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Video: </a:t>
            </a:r>
            <a:r>
              <a:rPr lang="en-US" sz="1400" dirty="0">
                <a:solidFill>
                  <a:srgbClr val="555555"/>
                </a:solidFill>
              </a:rPr>
              <a:t>https://youtu.be/1VO1uWPQsVE</a:t>
            </a:r>
            <a:endParaRPr sz="1400" b="0" i="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1" y="1463040"/>
            <a:ext cx="4183616" cy="393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(3 shallow levels) — Conv3×3 → BN → </a:t>
            </a:r>
            <a:r>
              <a:rPr sz="1600" b="0" i="0" dirty="0" err="1">
                <a:solidFill>
                  <a:srgbClr val="000000"/>
                </a:solidFill>
                <a:latin typeface="Calibri"/>
              </a:rPr>
              <a:t>ReLU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, narrow channels (16/32/128)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  <a:endParaRPr sz="1600" b="0" i="0" dirty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E48908-5637-2F3E-F04A-83FC05B9E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242"/>
          <a:stretch>
            <a:fillRect/>
          </a:stretch>
        </p:blipFill>
        <p:spPr>
          <a:xfrm>
            <a:off x="4868944" y="1395167"/>
            <a:ext cx="6862713" cy="47228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609277"/>
              </p:ext>
            </p:extLst>
          </p:nvPr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0.6692/0.7930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000000"/>
                          </a:solidFill>
                          <a:latin typeface="Calibri"/>
                        </a:rPr>
                        <a:t>~1</a:t>
                      </a:r>
                      <a:endParaRPr sz="1400" b="1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412635"/>
              </p:ext>
            </p:extLst>
          </p:nvPr>
        </p:nvGraphicFramePr>
        <p:xfrm>
          <a:off x="548640" y="3200400"/>
          <a:ext cx="944377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0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09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25 </a:t>
                      </a:r>
                      <a:r>
                        <a:rPr sz="1800" b="0" i="0" dirty="0" err="1">
                          <a:solidFill>
                            <a:srgbClr val="000000"/>
                          </a:solidFill>
                          <a:latin typeface="Calibri"/>
                        </a:rPr>
                        <a:t>ms</a:t>
                      </a:r>
                      <a:r>
                        <a:rPr sz="18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1" dirty="0">
                <a:solidFill>
                  <a:srgbClr val="555555"/>
                </a:solidFill>
                <a:latin typeface="Calibri"/>
              </a:rPr>
              <a:t>No </a:t>
            </a:r>
            <a:r>
              <a:rPr sz="1200" b="0" i="1" dirty="0">
                <a:solidFill>
                  <a:srgbClr val="555555"/>
                </a:solidFill>
                <a:latin typeface="Calibri"/>
              </a:rPr>
              <a:t>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825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0.039, gap 0.076 — too 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00779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Mean </a:t>
            </a:r>
            <a:r>
              <a:rPr sz="1400" b="1" i="0" dirty="0" err="1">
                <a:solidFill>
                  <a:srgbClr val="000000"/>
                </a:solidFill>
                <a:latin typeface="Calibri"/>
              </a:rPr>
              <a:t>IoU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 0.5931 → 0.6328 (+0.040).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 dirty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; split-to-split Dice spread cut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4.4×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(±0.0242 → ±0.0054)</a:t>
            </a:r>
          </a:p>
          <a:p>
            <a:pPr>
              <a:spcAft>
                <a:spcPts val="7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compared at the *same* number of epochs the gain shrinks to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+0.023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. Augmentation does not converge faster — it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, letting training run to ep282–390 instead of stalling near 100.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39"/>
            <a:ext cx="1149328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Four modifications, measured against the right yardstick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Two grafted onto our best model, two trained from scratch — all on strong augmentation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32181"/>
              </p:ext>
            </p:extLst>
          </p:nvPr>
        </p:nvGraphicFramePr>
        <p:xfrm>
          <a:off x="548640" y="1463040"/>
          <a:ext cx="11493288" cy="3061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2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7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6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282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765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029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Boundary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33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skips,
edge-aware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token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29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+0.55%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+5.90%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29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29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000000"/>
                          </a:solidFill>
                          <a:latin typeface="Calibri"/>
                        </a:rPr>
                        <a:t>+0.004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298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Paired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56369"/>
            <a:ext cx="1149328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Not one of them clears 0.011 </a:t>
            </a:r>
            <a:r>
              <a:rPr sz="1600" b="1" i="0" dirty="0" err="1">
                <a:solidFill>
                  <a:srgbClr val="000000"/>
                </a:solidFill>
                <a:latin typeface="Calibri"/>
              </a:rPr>
              <a:t>IoU</a:t>
            </a:r>
            <a:r>
              <a:rPr sz="1600" b="1" i="0" dirty="0">
                <a:solidFill>
                  <a:srgbClr val="000000"/>
                </a:solidFill>
                <a:latin typeface="Calibri"/>
              </a:rPr>
              <a:t> — and 0.011 is what we get by changing the random seed alone.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We reran six configurations changing nothing but the random seed: they disagree by 0.011 on average, and by as much as 0.019.</a:t>
            </a:r>
          </a:p>
          <a:p>
            <a:pPr>
              <a:spcAft>
                <a:spcPts val="6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So the honest verdict is: none of these architectural changes does anything we can measure.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Two of them cost 11–16% more compute to achieve it.</a:t>
            </a:r>
          </a:p>
          <a:p>
            <a:pPr>
              <a:spcAft>
                <a:spcPts val="6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The exception is the wavelet mixer — it is the only one that makes the network cheaper.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Same accuracy, 9% fewer FLOPs. That is where the next two slides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we changed: the token mixer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 fixed Haar wavelet transform in place of the shifted MLP</a:t>
            </a:r>
          </a:p>
        </p:txBody>
      </p:sp>
      <p:pic>
        <p:nvPicPr>
          <p:cNvPr id="3" name="Picture 2" descr="fig9_wavele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34440"/>
            <a:ext cx="11155680" cy="4495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low band keeps the paper's MLP — but runs it on a quarter of the tokens.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That is where the 9% FLOP saving comes from. The three detail bands get a small convolution each, added back on top.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Same accuracy, 9% less compute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Three splits, paper-matched seeds, strong augmentation on both sides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Baseline (shifted 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Mean 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-0.0014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0.525   (-9.0%)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1,493,041   (+1.4%)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Boundary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0.4740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0.4570   (-0.017)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31920"/>
            <a:ext cx="1109441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-0.0014 IoU is an eighth of our seed noise.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This is "identical", not "slightly worse" — and it is the only change we tried that made the network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cheaper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rather than more expensive.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The honest cost: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contours are slightly softer (boundary F1 −0.017, worse on 3 of 3 splits). Smoothing away speckle also smooths the lesion edge.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metric the paper never measures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ships 133 scans with no lesion — no model here was trained on any of them</a:t>
            </a:r>
          </a:p>
        </p:txBody>
      </p:sp>
      <p:pic>
        <p:nvPicPr>
          <p:cNvPr id="3" name="Picture 2" descr="fig10_healthy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34440"/>
            <a:ext cx="11155680" cy="38956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035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IoU cannot score a healthy scan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the mask is empty, so predicting nothing scores perfectly. That degeneracy is what makes these 133 a clean held-out test of a different question: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when there is no tumour, how much does the model invent?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4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1. A real bug in the upstream code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inputs were being squashed from ±2.5 into </a:t>
            </a:r>
            <a:r>
              <a:rPr sz="17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, discarding most of the signal.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2. Frozen BatchNorm is not frozen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our "frozen" backbone would have drifted silently, invalidating the whole comparison.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3. Grafting a new layer without disturbing the model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took several attempts.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dead dependencies, no released weights to check against.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efficiency claims reproduce exactly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1.47 M parameters, 0.577 GFLOPs, 72x smaller than TransUNet.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accuracy does not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0.593 against the published 0.669, across six runs.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cause is overfitting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stronger augmentation recovers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+0.040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without touching the architecture.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No architectural change beat the random seed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a different seed moves IoU by 0.011; every modification moved it less.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Except one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wavelet mixer: same accuracy,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9% fewer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3x more healthy scans left completely clean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the training recipe mattered more than the architecture — and most reported gains this size are indistinguishable from the random seed.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 small shift toward recall — but only one split shows it clearly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371600"/>
            <a:ext cx="768096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Averaged over six paired runs: recall +0.017, precision −0.012. The direction matches what the loss was designed to do, but the size is small and one split (43) accounts for most of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1630</Words>
  <Application>Microsoft Office PowerPoint</Application>
  <PresentationFormat>Widescreen</PresentationFormat>
  <Paragraphs>193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UNeXt: MLP-based Rapid Medical Image Segmentation Network</dc:title>
  <dc:subject>Reproduction study on the BUSI breast-ultrasound dataset</dc:subject>
  <dc:creator>Deep Learning 83882 - final project</dc:creator>
  <cp:keywords/>
  <dc:description/>
  <cp:lastModifiedBy>David Sheinenzon</cp:lastModifiedBy>
  <cp:revision>10</cp:revision>
  <dcterms:created xsi:type="dcterms:W3CDTF">2013-01-27T09:14:16Z</dcterms:created>
  <dcterms:modified xsi:type="dcterms:W3CDTF">2026-09-09T17:55:51Z</dcterms:modified>
  <cp:category/>
</cp:coreProperties>
</file>