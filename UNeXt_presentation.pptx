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914400"/>
            <a:ext cx="1109441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i="0">
                <a:solidFill>
                  <a:srgbClr val="000000"/>
                </a:solidFill>
                <a:latin typeface="Calibri"/>
              </a:rPr>
              <a:t>UNeXt: MLP-based Rapid Medical
Image Segmentation Network</a:t>
            </a:r>
          </a:p>
          <a:p>
            <a:r>
              <a:rPr sz="1500" b="0" i="0">
                <a:solidFill>
                  <a:srgbClr val="555555"/>
                </a:solidFill>
                <a:latin typeface="Calibri"/>
              </a:rPr>
              <a:t>Valanarasu &amp; Patel, Johns Hopkins University — MICCAI 2022 (arXiv:2203.04967, March 2022)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2834640"/>
          <a:ext cx="566928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01568"/>
                <a:gridCol w="2267712"/>
              </a:tblGrid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000000"/>
                          </a:solidFill>
                          <a:latin typeface="Calibri"/>
                        </a:rPr>
                        <a:t>Group members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&lt;NAME 1&gt;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&lt;ID 1&gt;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&lt;NAME 2&gt;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&lt;ID 2&gt;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&lt;NAME 3&gt;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&lt;ID 3&gt;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766560" y="2834640"/>
            <a:ext cx="4846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400"/>
              </a:spcAft>
            </a:pPr>
            <a:r>
              <a:rPr sz="1400" b="1" i="0">
                <a:solidFill>
                  <a:srgbClr val="000000"/>
                </a:solidFill>
                <a:latin typeface="Calibri"/>
              </a:rPr>
              <a:t>Code: </a:t>
            </a:r>
            <a:r>
              <a:rPr sz="1400" b="0" i="0">
                <a:solidFill>
                  <a:srgbClr val="555555"/>
                </a:solidFill>
                <a:latin typeface="Calibri"/>
              </a:rPr>
              <a:t>&lt;GITHUB / DRIVE LINK&gt;</a:t>
            </a:r>
          </a:p>
          <a:p>
            <a:pPr>
              <a:spcAft>
                <a:spcPts val="1400"/>
              </a:spcAft>
            </a:pPr>
            <a:r>
              <a:rPr sz="1400" b="1" i="0">
                <a:solidFill>
                  <a:srgbClr val="000000"/>
                </a:solidFill>
                <a:latin typeface="Calibri"/>
              </a:rPr>
              <a:t>Video: </a:t>
            </a:r>
            <a:r>
              <a:rPr sz="1400" b="0" i="0">
                <a:solidFill>
                  <a:srgbClr val="555555"/>
                </a:solidFill>
                <a:latin typeface="Calibri"/>
              </a:rPr>
              <a:t>&lt;UNLISTED YOUTUBE LINK&gt;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199632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555555"/>
                </a:solidFill>
                <a:latin typeface="Calibri"/>
              </a:rPr>
              <a:t>Fill in all placeholders before submitting — missing items are penalised. Paste the video link in this slide's comment section as well.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00000"/>
                </a:solidFill>
                <a:latin typeface="Calibri"/>
              </a:rPr>
              <a:t>Motivation: segmentation at the point of care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9441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000000"/>
                </a:solidFill>
                <a:latin typeface="Calibri"/>
              </a:rPr>
              <a:t>Medical image segmentation guides diagnosis — outlining a lesion in an ultrasound scan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000000"/>
                </a:solidFill>
                <a:latin typeface="Calibri"/>
              </a:rPr>
              <a:t>U-Net and its successors are accurate, but </a:t>
            </a:r>
            <a:r>
              <a:rPr sz="1600" b="1" i="0">
                <a:solidFill>
                  <a:srgbClr val="000000"/>
                </a:solidFill>
                <a:latin typeface="Calibri"/>
              </a:rPr>
              <a:t>parameter-heavy and slow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000000"/>
                </a:solidFill>
                <a:latin typeface="Calibri"/>
              </a:rPr>
              <a:t>Point-of-care use — a handheld probe, a clinic laptop, a field device — needs inference on </a:t>
            </a:r>
            <a:r>
              <a:rPr sz="1600" b="1" i="0">
                <a:solidFill>
                  <a:srgbClr val="000000"/>
                </a:solidFill>
                <a:latin typeface="Calibri"/>
              </a:rPr>
              <a:t>CPU, in seconds</a:t>
            </a:r>
            <a:r>
              <a:rPr sz="1600" b="0" i="0">
                <a:solidFill>
                  <a:srgbClr val="000000"/>
                </a:solidFill>
                <a:latin typeface="Calibri"/>
              </a:rPr>
              <a:t>, not a datacenter GPU</a:t>
            </a:r>
          </a:p>
          <a:p>
            <a:pPr lvl="1">
              <a:spcAft>
                <a:spcPts val="1000"/>
              </a:spcAft>
            </a:pPr>
            <a:r>
              <a:rPr sz="1500" b="0" i="0">
                <a:solidFill>
                  <a:srgbClr val="555555"/>
                </a:solidFill>
                <a:latin typeface="Calibri"/>
              </a:rPr>
              <a:t>TransUNet: 105.32 M parameters, 38.52 GFLOPs, </a:t>
            </a:r>
            <a:r>
              <a:rPr sz="1500" b="1" i="0">
                <a:solidFill>
                  <a:srgbClr val="555555"/>
                </a:solidFill>
                <a:latin typeface="Calibri"/>
              </a:rPr>
              <a:t>246 ms</a:t>
            </a:r>
            <a:r>
              <a:rPr sz="1500" b="0" i="0">
                <a:solidFill>
                  <a:srgbClr val="555555"/>
                </a:solidFill>
                <a:latin typeface="Calibri"/>
              </a:rPr>
              <a:t> per image on CPU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000000"/>
                </a:solidFill>
                <a:latin typeface="Calibri"/>
              </a:rPr>
              <a:t>The question: </a:t>
            </a:r>
            <a:r>
              <a:rPr sz="1600" b="1" i="0">
                <a:solidFill>
                  <a:srgbClr val="000000"/>
                </a:solidFill>
                <a:latin typeface="Calibri"/>
              </a:rPr>
              <a:t>can we keep the accuracy at a fraction of the cost?</a:t>
            </a:r>
          </a:p>
        </p:txBody>
      </p:sp>
      <p:pic>
        <p:nvPicPr>
          <p:cNvPr id="4" name="Picture 3" descr="fig5_effici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5047" y="3200400"/>
            <a:ext cx="51816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00000"/>
                </a:solidFill>
                <a:latin typeface="Calibri"/>
              </a:rPr>
              <a:t>The solution: UNeXt</a:t>
            </a:r>
          </a:p>
          <a:p>
            <a:r>
              <a:rPr sz="1400" b="0" i="1">
                <a:solidFill>
                  <a:srgbClr val="555555"/>
                </a:solidFill>
                <a:latin typeface="Calibri"/>
              </a:rPr>
              <a:t>U-Net shape — but the deep layers use MLPs, not convolution or attention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 i="0">
                <a:solidFill>
                  <a:srgbClr val="000000"/>
                </a:solidFill>
                <a:latin typeface="Calibri"/>
              </a:rPr>
              <a:t>Conv stage</a:t>
            </a:r>
            <a:r>
              <a:rPr sz="1600" b="0" i="0">
                <a:solidFill>
                  <a:srgbClr val="000000"/>
                </a:solidFill>
                <a:latin typeface="Calibri"/>
              </a:rPr>
              <a:t> (3 shallow levels) — Conv3×3 → BN → ReLU, narrow channels (16/32/128)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000000"/>
                </a:solidFill>
                <a:latin typeface="Calibri"/>
              </a:rPr>
              <a:t>Tokenized MLP stage</a:t>
            </a:r>
            <a:r>
              <a:rPr sz="1600" b="0" i="0">
                <a:solidFill>
                  <a:srgbClr val="000000"/>
                </a:solidFill>
                <a:latin typeface="Calibri"/>
              </a:rPr>
              <a:t> (2 deep levels) — features are tokenized, then passed through shifted MLPs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000000"/>
                </a:solidFill>
                <a:latin typeface="Calibri"/>
              </a:rPr>
              <a:t>Skip connections</a:t>
            </a:r>
            <a:r>
              <a:rPr sz="1600" b="0" i="0">
                <a:solidFill>
                  <a:srgbClr val="000000"/>
                </a:solidFill>
                <a:latin typeface="Calibri"/>
              </a:rPr>
              <a:t> join matching encoder and decoder levels</a:t>
            </a:r>
          </a:p>
          <a:p>
            <a:pPr>
              <a:spcAft>
                <a:spcPts val="1000"/>
              </a:spcAft>
            </a:pP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000000"/>
                </a:solidFill>
                <a:latin typeface="Calibri"/>
              </a:rPr>
              <a:t>Why MLPs?</a:t>
            </a:r>
            <a:r>
              <a:rPr sz="1600" b="0" i="0">
                <a:solidFill>
                  <a:srgbClr val="000000"/>
                </a:solidFill>
                <a:latin typeface="Calibri"/>
              </a:rPr>
              <a:t> Self-attention costs O(n²) in the number of tokens. MLPs are plain matrix multiplies — far cheaper.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000000"/>
                </a:solidFill>
                <a:latin typeface="Calibri"/>
              </a:rPr>
              <a:t>The catch:</a:t>
            </a:r>
            <a:r>
              <a:rPr sz="1600" b="0" i="0">
                <a:solidFill>
                  <a:srgbClr val="000000"/>
                </a:solidFill>
                <a:latin typeface="Calibri"/>
              </a:rPr>
              <a:t> an MLP is spatially blind. It has no notion of "adjacent pixel".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199632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555555"/>
                </a:solidFill>
                <a:latin typeface="Calibri"/>
              </a:rPr>
              <a:t>Architecture figure: insert unext/imgs/unext.png from the official repository here.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00000"/>
                </a:solidFill>
                <a:latin typeface="Calibri"/>
              </a:rPr>
              <a:t>The key trick: shifted MLPs</a:t>
            </a:r>
          </a:p>
          <a:p>
            <a:r>
              <a:rPr sz="1400" b="0" i="1">
                <a:solidFill>
                  <a:srgbClr val="555555"/>
                </a:solidFill>
                <a:latin typeface="Calibri"/>
              </a:rPr>
              <a:t>How UNeXt gives an MLP a sense of locality — for free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0" i="0">
                <a:solidFill>
                  <a:srgbClr val="000000"/>
                </a:solidFill>
                <a:latin typeface="Calibri"/>
              </a:rPr>
              <a:t>Before each Linear layer, feature-map chunks are </a:t>
            </a:r>
            <a:r>
              <a:rPr sz="1500" b="1" i="0">
                <a:solidFill>
                  <a:srgbClr val="000000"/>
                </a:solidFill>
                <a:latin typeface="Calibri"/>
              </a:rPr>
              <a:t>cyclically shifted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(torch.roll, ±2 px) along height, then width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000000"/>
                </a:solidFill>
                <a:latin typeface="Calibri"/>
              </a:rPr>
              <a:t>A depthwise convolution sits between the two Linear layers as positional encoding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</a:rPr>
              <a:t>Each token now mixes with its actual spatial neighbours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before projection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</a:rPr>
              <a:t>Cost: zero extra parameters, zero extra FLOPs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— it is pure indexing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3566160"/>
          <a:ext cx="11094413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98138"/>
                <a:gridCol w="2465425"/>
                <a:gridCol w="2465425"/>
                <a:gridCol w="2465425"/>
              </a:tblGrid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000000"/>
                          </a:solidFill>
                          <a:latin typeface="Calibri"/>
                        </a:rPr>
                        <a:t>Paper's reported results (BUSI)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/>
                        </a:rPr>
                        <a:t>UNeXt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/>
                        </a:rPr>
                        <a:t>TransUNet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/>
                        </a:rPr>
                        <a:t>Factor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Parameters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1.47 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105.32 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/>
                        </a:rPr>
                        <a:t>72× fewer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GFLOPs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0.57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38.52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/>
                        </a:rPr>
                        <a:t>68× less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CPU inference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25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246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/>
                        </a:rPr>
                        <a:t>10× faster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IoU / F1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0.6695 / 0.7937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lower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p &lt; 10⁻⁵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199632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555555"/>
                </a:solidFill>
                <a:latin typeface="Calibri"/>
              </a:rPr>
              <a:t>This locality bias is why UNeXt trains from scratch without ImageNet pretraining, unlike ViT-based medical models.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00000"/>
                </a:solidFill>
                <a:latin typeface="Calibri"/>
              </a:rPr>
              <a:t>Our setup</a:t>
            </a:r>
          </a:p>
          <a:p>
            <a:r>
              <a:rPr sz="1400" b="0" i="1">
                <a:solidFill>
                  <a:srgbClr val="555555"/>
                </a:solidFill>
                <a:latin typeface="Calibri"/>
              </a:rPr>
              <a:t>BUSI · RTX 5060 Laptop · 11 training runs · ~10 h GPU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17320"/>
            <a:ext cx="11094415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</a:rPr>
              <a:t>Dataset: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BUSI breast ultrasound — 647 images (437 benign + 210 malignant), 80/20 split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</a:rPr>
              <a:t>Protocol: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the authors' exact README command, then controlled variations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</a:rPr>
              <a:t>Getting a 2022 repo to run in 2026: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removed an unused mmcv import, updated timm and albumentations APIs, and </a:t>
            </a:r>
            <a:r>
              <a:rPr sz="1500" b="1" i="0">
                <a:solidFill>
                  <a:srgbClr val="000000"/>
                </a:solidFill>
                <a:latin typeface="Calibri"/>
              </a:rPr>
              <a:t>wrote the dataset preprocessing ourselves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— the repo ships none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3200400"/>
          <a:ext cx="76809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1920240"/>
                <a:gridCol w="192024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000000"/>
                          </a:solidFill>
                          <a:latin typeface="Calibri"/>
                        </a:rPr>
                        <a:t>Sanity check — does our implementation match?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/>
                        </a:rPr>
                        <a:t>Ours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/>
                        </a:rPr>
                        <a:t>Paper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Parameters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1,471,921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1.47 M 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GFLOPs @ 256×256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0.577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0.57 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CPU inference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12.5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25 ms 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199632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555555"/>
                </a:solidFill>
                <a:latin typeface="Calibri"/>
              </a:rPr>
              <a:t>This matters: the architecture reproduces exactly, so any accuracy gap that follows is NOT a broken implementation.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00000"/>
                </a:solidFill>
                <a:latin typeface="Calibri"/>
              </a:rPr>
              <a:t>We could not reproduce the reported accuracy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11094415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0" i="0">
                <a:solidFill>
                  <a:srgbClr val="000000"/>
                </a:solidFill>
                <a:latin typeface="Calibri"/>
              </a:rPr>
              <a:t>Running the authors' </a:t>
            </a:r>
            <a:r>
              <a:rPr sz="1500" b="1" i="0">
                <a:solidFill>
                  <a:srgbClr val="000000"/>
                </a:solidFill>
                <a:latin typeface="Calibri"/>
              </a:rPr>
              <a:t>exact command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(512×512, 500 epochs, lr 1e-4, batch 8): </a:t>
            </a:r>
            <a:r>
              <a:rPr sz="1500" b="1" i="0">
                <a:solidFill>
                  <a:srgbClr val="000000"/>
                </a:solidFill>
                <a:latin typeface="Calibri"/>
              </a:rPr>
              <a:t>IoU 0.5956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vs the paper's </a:t>
            </a:r>
            <a:r>
              <a:rPr sz="1500" b="1" i="0">
                <a:solidFill>
                  <a:srgbClr val="000000"/>
                </a:solidFill>
                <a:latin typeface="Calibri"/>
              </a:rPr>
              <a:t>0.6695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</a:rPr>
              <a:t>Six runs across four configurations all land in 0.569 – 0.602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000000"/>
                </a:solidFill>
                <a:latin typeface="Calibri"/>
              </a:rPr>
              <a:t>3-split mean (the paper's own protocol): </a:t>
            </a:r>
            <a:r>
              <a:rPr sz="1500" b="1" i="0">
                <a:solidFill>
                  <a:srgbClr val="000000"/>
                </a:solidFill>
                <a:latin typeface="Calibri"/>
              </a:rPr>
              <a:t>0.5931 ± 0.0210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— short by </a:t>
            </a:r>
            <a:r>
              <a:rPr sz="1500" b="1" i="0">
                <a:solidFill>
                  <a:srgbClr val="000000"/>
                </a:solidFill>
                <a:latin typeface="Calibri"/>
              </a:rPr>
              <a:t>0.076 IoU</a:t>
            </a:r>
          </a:p>
        </p:txBody>
      </p:sp>
      <p:pic>
        <p:nvPicPr>
          <p:cNvPr id="4" name="Picture 3" descr="fig2_reprodu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3607" y="2651760"/>
            <a:ext cx="5364480" cy="3017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199632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555555"/>
                </a:solidFill>
                <a:latin typeface="Calibri"/>
              </a:rPr>
              <a:t>And there are no official weights to check against: the repo ships none, and GitHub issues #11 (Apr 2022) and #21 (Jul 2022) requesting them are still open and unanswered.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00000"/>
                </a:solidFill>
                <a:latin typeface="Calibri"/>
              </a:rPr>
              <a:t>Five hypotheses, systematically eliminated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463040"/>
          <a:ext cx="11094412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0323"/>
                <a:gridCol w="3586073"/>
                <a:gridCol w="2465425"/>
                <a:gridCol w="4482591"/>
              </a:tblGrid>
              <a:tr h="48768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000000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000000"/>
                          </a:solidFill>
                          <a:latin typeface="Calibri"/>
                        </a:rPr>
                        <a:t>Hypothesis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000000"/>
                          </a:solidFill>
                          <a:latin typeface="Calibri"/>
                        </a:rPr>
                        <a:t>How we tested 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000000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00000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000000"/>
                          </a:solidFill>
                          <a:latin typeface="Calibri"/>
                        </a:rPr>
                        <a:t>Wrong resolution (256 vs 512)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000000"/>
                          </a:solidFill>
                          <a:latin typeface="Calibri"/>
                        </a:rPr>
                        <a:t>ran both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000000"/>
                          </a:solidFill>
                          <a:latin typeface="Calibri"/>
                        </a:rPr>
                        <a:t>512 was worse (0.5956 vs 0.5975)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000000"/>
                          </a:solidFill>
                          <a:latin typeface="Calibri"/>
                        </a:rPr>
                        <a:t>Mixed precision hurt accuracy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000000"/>
                          </a:solidFill>
                          <a:latin typeface="Calibri"/>
                        </a:rPr>
                        <a:t>AMP vs FP32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000000"/>
                          </a:solidFill>
                          <a:latin typeface="Calibri"/>
                        </a:rPr>
                        <a:t>tied at every 50-epoch window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00000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000000"/>
                          </a:solidFill>
                          <a:latin typeface="Calibri"/>
                        </a:rPr>
                        <a:t>Wrong decision threshold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000000"/>
                          </a:solidFill>
                          <a:latin typeface="Calibri"/>
                        </a:rPr>
                        <a:t>swept 0.3 – 0.7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000000"/>
                          </a:solidFill>
                          <a:latin typeface="Calibri"/>
                        </a:rPr>
                        <a:t>flat; 0.5 already optimal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00000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000000"/>
                          </a:solidFill>
                          <a:latin typeface="Calibri"/>
                        </a:rPr>
                        <a:t>Unlucky split composition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000000"/>
                          </a:solidFill>
                          <a:latin typeface="Calibri"/>
                        </a:rPr>
                        <a:t>checked 3 seeds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000000"/>
                          </a:solidFill>
                          <a:latin typeface="Calibri"/>
                        </a:rPr>
                        <a:t>balanced on class + lesion area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00000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000000"/>
                          </a:solidFill>
                          <a:latin typeface="Calibri"/>
                        </a:rPr>
                        <a:t>Split averaging (paper = mean of 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000000"/>
                          </a:solidFill>
                          <a:latin typeface="Calibri"/>
                        </a:rPr>
                        <a:t>ran 3 splits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000000"/>
                          </a:solidFill>
                          <a:latin typeface="Calibri"/>
                        </a:rPr>
                        <a:t>spread 0.039 vs gap 0.076 → 3.6σ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4663440"/>
            <a:ext cx="11094415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</a:rPr>
              <a:t>Hypothesis 5 is decisive: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split-to-split variation is ~3.6× too small to explain the gap. Even our best single split (0.6085) falls well short of 0.6695.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</a:rPr>
              <a:t>Conclusion: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the gap is real and systematic — not a configuration mistake on our side.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00000"/>
                </a:solidFill>
                <a:latin typeface="Calibri"/>
              </a:rPr>
              <a:t>Diagnosis: the model overfits badly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11094415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0" i="0">
                <a:solidFill>
                  <a:srgbClr val="000000"/>
                </a:solidFill>
                <a:latin typeface="Calibri"/>
              </a:rPr>
              <a:t>Validation IoU peaks at </a:t>
            </a:r>
            <a:r>
              <a:rPr sz="1500" b="1" i="0">
                <a:solidFill>
                  <a:srgbClr val="000000"/>
                </a:solidFill>
                <a:latin typeface="Calibri"/>
              </a:rPr>
              <a:t>epoch ~95–107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, then declines for </a:t>
            </a:r>
            <a:r>
              <a:rPr sz="1500" b="1" i="0">
                <a:solidFill>
                  <a:srgbClr val="000000"/>
                </a:solidFill>
                <a:latin typeface="Calibri"/>
              </a:rPr>
              <a:t>300+ epochs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000000"/>
                </a:solidFill>
                <a:latin typeface="Calibri"/>
              </a:rPr>
              <a:t>Final train IoU </a:t>
            </a:r>
            <a:r>
              <a:rPr sz="1500" b="1" i="0">
                <a:solidFill>
                  <a:srgbClr val="000000"/>
                </a:solidFill>
                <a:latin typeface="Calibri"/>
              </a:rPr>
              <a:t>0.87–0.91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vs validation </a:t>
            </a:r>
            <a:r>
              <a:rPr sz="1500" b="1" i="0">
                <a:solidFill>
                  <a:srgbClr val="000000"/>
                </a:solidFill>
                <a:latin typeface="Calibri"/>
              </a:rPr>
              <a:t>0.56–0.58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→ </a:t>
            </a:r>
            <a:r>
              <a:rPr sz="1500" b="1" i="0">
                <a:solidFill>
                  <a:srgbClr val="000000"/>
                </a:solidFill>
                <a:latin typeface="Calibri"/>
              </a:rPr>
              <a:t>+0.31 generalization gap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</a:rPr>
              <a:t>Root cause: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the paper augments with rotate90 + flips only — not enough for 518 training images</a:t>
            </a:r>
          </a:p>
        </p:txBody>
      </p:sp>
      <p:pic>
        <p:nvPicPr>
          <p:cNvPr id="4" name="Picture 3" descr="fig1_overfit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1047" y="2697480"/>
            <a:ext cx="568960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00000"/>
                </a:solidFill>
                <a:latin typeface="Calibri"/>
              </a:rPr>
              <a:t>Our fix: stronger augmentation</a:t>
            </a:r>
          </a:p>
          <a:p>
            <a:r>
              <a:rPr sz="1400" b="0" i="1">
                <a:solidFill>
                  <a:srgbClr val="555555"/>
                </a:solidFill>
                <a:latin typeface="Calibri"/>
              </a:rPr>
              <a:t>Added affine, brightness/contrast, gamma and elastic deformation</a:t>
            </a:r>
          </a:p>
        </p:txBody>
      </p:sp>
      <p:pic>
        <p:nvPicPr>
          <p:cNvPr id="3" name="Picture 2" descr="fig3_augment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767" y="1325880"/>
            <a:ext cx="10424160" cy="40748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114800"/>
            <a:ext cx="1109441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 b="1" i="0">
                <a:solidFill>
                  <a:srgbClr val="000000"/>
                </a:solidFill>
                <a:latin typeface="Calibri"/>
              </a:rPr>
              <a:t>Mean IoU 0.5931 → 0.6328 (+0.040).</a:t>
            </a:r>
            <a:r>
              <a:rPr sz="1400" b="0" i="0">
                <a:solidFill>
                  <a:srgbClr val="000000"/>
                </a:solidFill>
                <a:latin typeface="Calibri"/>
              </a:rPr>
              <a:t> All three splits improved. Gap to paper halved: 0.076 → 0.037</a:t>
            </a:r>
          </a:p>
          <a:p>
            <a:pPr>
              <a:spcAft>
                <a:spcPts val="700"/>
              </a:spcAft>
            </a:pPr>
            <a:r>
              <a:rPr sz="1400" b="0" i="0">
                <a:solidFill>
                  <a:srgbClr val="000000"/>
                </a:solidFill>
                <a:latin typeface="Calibri"/>
              </a:rPr>
              <a:t>Overfitting gap cut </a:t>
            </a:r>
            <a:r>
              <a:rPr sz="1400" b="1" i="0">
                <a:solidFill>
                  <a:srgbClr val="000000"/>
                </a:solidFill>
                <a:latin typeface="Calibri"/>
              </a:rPr>
              <a:t>60%</a:t>
            </a:r>
            <a:r>
              <a:rPr sz="1400" b="0" i="0">
                <a:solidFill>
                  <a:srgbClr val="000000"/>
                </a:solidFill>
                <a:latin typeface="Calibri"/>
              </a:rPr>
              <a:t>; split-to-split Dice spread cut </a:t>
            </a:r>
            <a:r>
              <a:rPr sz="1400" b="1" i="0">
                <a:solidFill>
                  <a:srgbClr val="000000"/>
                </a:solidFill>
                <a:latin typeface="Calibri"/>
              </a:rPr>
              <a:t>4.4×</a:t>
            </a:r>
            <a:r>
              <a:rPr sz="1400" b="0" i="0">
                <a:solidFill>
                  <a:srgbClr val="000000"/>
                </a:solidFill>
                <a:latin typeface="Calibri"/>
              </a:rPr>
              <a:t> (±0.0242 → ±0.0054)</a:t>
            </a:r>
          </a:p>
          <a:p>
            <a:pPr>
              <a:spcAft>
                <a:spcPts val="700"/>
              </a:spcAft>
            </a:pPr>
            <a:r>
              <a:rPr sz="1400" b="1" i="0">
                <a:solidFill>
                  <a:srgbClr val="000000"/>
                </a:solidFill>
                <a:latin typeface="Calibri"/>
              </a:rPr>
              <a:t>Honest caveat:</a:t>
            </a:r>
            <a:r>
              <a:rPr sz="1400" b="0" i="0">
                <a:solidFill>
                  <a:srgbClr val="000000"/>
                </a:solidFill>
                <a:latin typeface="Calibri"/>
              </a:rPr>
              <a:t> at a *matched* budget the gain shrinks to </a:t>
            </a:r>
            <a:r>
              <a:rPr sz="1400" b="1" i="0">
                <a:solidFill>
                  <a:srgbClr val="000000"/>
                </a:solidFill>
                <a:latin typeface="Calibri"/>
              </a:rPr>
              <a:t>+0.023 (p = 0.24)</a:t>
            </a:r>
            <a:r>
              <a:rPr sz="1400" b="0" i="0">
                <a:solidFill>
                  <a:srgbClr val="000000"/>
                </a:solidFill>
                <a:latin typeface="Calibri"/>
              </a:rPr>
              <a:t>. Augmentation does not converge faster — it </a:t>
            </a:r>
            <a:r>
              <a:rPr sz="1400" b="1" i="0">
                <a:solidFill>
                  <a:srgbClr val="000000"/>
                </a:solidFill>
                <a:latin typeface="Calibri"/>
              </a:rPr>
              <a:t>removes the ceiling</a:t>
            </a:r>
            <a:r>
              <a:rPr sz="1400" b="0" i="0">
                <a:solidFill>
                  <a:srgbClr val="000000"/>
                </a:solidFill>
                <a:latin typeface="Calibri"/>
              </a:rPr>
              <a:t>, letting training run to ep282–390 instead of stalling near 100.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00000"/>
                </a:solidFill>
                <a:latin typeface="Calibri"/>
              </a:rPr>
              <a:t>Four modifications, measured against the right yardstick</a:t>
            </a:r>
          </a:p>
          <a:p>
            <a:r>
              <a:rPr sz="1400" b="0" i="1">
                <a:solidFill>
                  <a:srgbClr val="555555"/>
                </a:solidFill>
                <a:latin typeface="Calibri"/>
              </a:rPr>
              <a:t>Two grafted onto our best model, two trained from scratch — all on strong augmentation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463040"/>
          <a:ext cx="1088136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691640"/>
                <a:gridCol w="1691640"/>
                <a:gridCol w="1691640"/>
                <a:gridCol w="1920240"/>
                <a:gridCol w="1965960"/>
              </a:tblGrid>
              <a:tr h="38100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000000"/>
                          </a:solidFill>
                          <a:latin typeface="Calibri"/>
                        </a:rPr>
                        <a:t>SE attention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000000"/>
                          </a:solidFill>
                          <a:latin typeface="Calibri"/>
                        </a:rPr>
                        <a:t>Skip-Fusion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000000"/>
                          </a:solidFill>
                          <a:latin typeface="Calibri"/>
                        </a:rPr>
                        <a:t>Focal Tversky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000000"/>
                          </a:solidFill>
                          <a:latin typeface="Calibri"/>
                        </a:rPr>
                        <a:t>Boundary gate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000000"/>
                          </a:solidFill>
                          <a:latin typeface="Calibri"/>
                        </a:rPr>
                        <a:t>Wavelet mixer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000000"/>
                          </a:solidFill>
                          <a:latin typeface="Calibri"/>
                        </a:rPr>
                        <a:t>What it changes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0000"/>
                          </a:solidFill>
                          <a:latin typeface="Calibri"/>
                        </a:rPr>
                        <a:t>channel gating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0000"/>
                          </a:solidFill>
                          <a:latin typeface="Calibri"/>
                        </a:rPr>
                        <a:t>gate on skips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0000"/>
                          </a:solidFill>
                          <a:latin typeface="Calibri"/>
                        </a:rPr>
                        <a:t>the loss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0000"/>
                          </a:solidFill>
                          <a:latin typeface="Calibri"/>
                        </a:rPr>
                        <a:t>gate on skips,
edge-aware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0000"/>
                          </a:solidFill>
                          <a:latin typeface="Calibri"/>
                        </a:rPr>
                        <a:t>the token mixer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000000"/>
                          </a:solidFill>
                          <a:latin typeface="Calibri"/>
                        </a:rPr>
                        <a:t>Parameters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0000"/>
                          </a:solidFill>
                          <a:latin typeface="Calibri"/>
                        </a:rPr>
                        <a:t>+0.55%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0000"/>
                          </a:solidFill>
                          <a:latin typeface="Calibri"/>
                        </a:rPr>
                        <a:t>+5.90%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0000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0000"/>
                          </a:solidFill>
                          <a:latin typeface="Calibri"/>
                        </a:rPr>
                        <a:t>+8.8%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0000"/>
                          </a:solidFill>
                          <a:latin typeface="Calibri"/>
                        </a:rPr>
                        <a:t>+1.43%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000000"/>
                          </a:solidFill>
                          <a:latin typeface="Calibri"/>
                        </a:rPr>
                        <a:t>GFLOPs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0000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0000"/>
                          </a:solidFill>
                          <a:latin typeface="Calibri"/>
                        </a:rPr>
                        <a:t>+11%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0000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0000"/>
                          </a:solidFill>
                          <a:latin typeface="Calibri"/>
                        </a:rPr>
                        <a:t>+16%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000000"/>
                          </a:solidFill>
                          <a:latin typeface="Calibri"/>
                        </a:rPr>
                        <a:t>-9%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000000"/>
                          </a:solidFill>
                          <a:latin typeface="Calibri"/>
                        </a:rPr>
                        <a:t>Change in IoU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000000"/>
                          </a:solidFill>
                          <a:latin typeface="Calibri"/>
                        </a:rPr>
                        <a:t>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000000"/>
                          </a:solidFill>
                          <a:latin typeface="Calibri"/>
                        </a:rPr>
                        <a:t>+0.002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000000"/>
                          </a:solidFill>
                          <a:latin typeface="Calibri"/>
                        </a:rPr>
                        <a:t>+0.005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000000"/>
                          </a:solidFill>
                          <a:latin typeface="Calibri"/>
                        </a:rPr>
                        <a:t>+0.004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000000"/>
                          </a:solidFill>
                          <a:latin typeface="Calibri"/>
                        </a:rPr>
                        <a:t>-0.001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000000"/>
                          </a:solidFill>
                          <a:latin typeface="Calibri"/>
                        </a:rPr>
                        <a:t>Paired runs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000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000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000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000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000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977639"/>
            <a:ext cx="11094415" cy="24231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 i="0">
                <a:solidFill>
                  <a:srgbClr val="000000"/>
                </a:solidFill>
                <a:latin typeface="Calibri"/>
              </a:rPr>
              <a:t>Not one of them clears 0.011 IoU — and 0.011 is what we get by changing the random seed alone.</a:t>
            </a:r>
            <a:r>
              <a:rPr sz="1300" b="0" i="0">
                <a:solidFill>
                  <a:srgbClr val="000000"/>
                </a:solidFill>
                <a:latin typeface="Calibri"/>
              </a:rPr>
              <a:t> Six pairs of identical configurations, differing only in initialisation, disagree by 0.0107 on average (range 0.003–0.019).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000000"/>
                </a:solidFill>
                <a:latin typeface="Calibri"/>
              </a:rPr>
              <a:t>So the honest verdict is: none of these architectural changes does anything we can measure.</a:t>
            </a:r>
            <a:r>
              <a:rPr sz="1300" b="0" i="0">
                <a:solidFill>
                  <a:srgbClr val="000000"/>
                </a:solidFill>
                <a:latin typeface="Calibri"/>
              </a:rPr>
              <a:t> Two of them cost 11–16% more compute to achieve it.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000000"/>
                </a:solidFill>
                <a:latin typeface="Calibri"/>
              </a:rPr>
              <a:t>The exception is the wavelet mixer — it is the only one that makes the network cheaper.</a:t>
            </a:r>
            <a:r>
              <a:rPr sz="1300" b="0" i="0">
                <a:solidFill>
                  <a:srgbClr val="000000"/>
                </a:solidFill>
                <a:latin typeface="Calibri"/>
              </a:rPr>
              <a:t> Same accuracy, 9% fewer FLOPs. That is where the next two slides go.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00000"/>
                </a:solidFill>
                <a:latin typeface="Calibri"/>
              </a:rPr>
              <a:t>The wavelet mixer: same accuracy, 9% less compute</a:t>
            </a:r>
          </a:p>
          <a:p>
            <a:r>
              <a:rPr sz="1400" b="0" i="1">
                <a:solidFill>
                  <a:srgbClr val="555555"/>
                </a:solidFill>
                <a:latin typeface="Calibri"/>
              </a:rPr>
              <a:t>Haar transform in place of the shifted-MLP token mixer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9441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 b="1" i="0">
                <a:solidFill>
                  <a:srgbClr val="000000"/>
                </a:solidFill>
                <a:latin typeface="Calibri"/>
              </a:rPr>
              <a:t>The paper's mixer shifts feature channels along one axis, then mixes them with an MLP.</a:t>
            </a:r>
            <a:r>
              <a:rPr sz="1400" b="0" i="0">
                <a:solidFill>
                  <a:srgbClr val="000000"/>
                </a:solidFill>
                <a:latin typeface="Calibri"/>
              </a:rPr>
              <a:t> We replaced it with a Haar wavelet transform: a fixed, invertible split of the feature map into a low-frequency band and three detail bands (horizontal, vertical, diagonal), each processed separately and recombined.</a:t>
            </a:r>
          </a:p>
          <a:p>
            <a:pPr>
              <a:spcAft>
                <a:spcPts val="700"/>
              </a:spcAft>
            </a:pPr>
            <a:r>
              <a:rPr sz="1400" b="1" i="0">
                <a:solidFill>
                  <a:srgbClr val="000000"/>
                </a:solidFill>
                <a:latin typeface="Calibri"/>
              </a:rPr>
              <a:t>Why we expected it to help:</a:t>
            </a:r>
            <a:r>
              <a:rPr sz="1400" b="0" i="0">
                <a:solidFill>
                  <a:srgbClr val="000000"/>
                </a:solidFill>
                <a:latin typeface="Calibri"/>
              </a:rPr>
              <a:t> ultrasound speckle is high-frequency noise. Separating the bands lets the network attenuate speckle explicitly rather than learning to ignore it.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3063240"/>
          <a:ext cx="1060704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3291840"/>
                <a:gridCol w="34747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000000"/>
                          </a:solidFill>
                          <a:latin typeface="Calibri"/>
                        </a:rPr>
                        <a:t>3 splits, strong augmentation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000000"/>
                          </a:solidFill>
                          <a:latin typeface="Calibri"/>
                        </a:rPr>
                        <a:t>Baseline (shifted MLP)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000000"/>
                          </a:solidFill>
                          <a:latin typeface="Calibri"/>
                        </a:rPr>
                        <a:t>Wavelet mixer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000000"/>
                          </a:solidFill>
                          <a:latin typeface="Calibri"/>
                        </a:rPr>
                        <a:t>Best IoU, per split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000000"/>
                          </a:solidFill>
                          <a:latin typeface="Calibri"/>
                        </a:rPr>
                        <a:t>0.6215 / 0.6306 / 0.6464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000000"/>
                          </a:solidFill>
                          <a:latin typeface="Calibri"/>
                        </a:rPr>
                        <a:t>0.6246 / 0.6226 / 0.6471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000000"/>
                          </a:solidFill>
                          <a:latin typeface="Calibri"/>
                        </a:rPr>
                        <a:t>Mean change in IoU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000000"/>
                          </a:solidFill>
                          <a:latin typeface="Calibri"/>
                        </a:rPr>
                        <a:t>-0.0014   (p = 0.72)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000000"/>
                          </a:solidFill>
                          <a:latin typeface="Calibri"/>
                        </a:rPr>
                        <a:t>GFLOPs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000000"/>
                          </a:solidFill>
                          <a:latin typeface="Calibri"/>
                        </a:rPr>
                        <a:t>0.577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000000"/>
                          </a:solidFill>
                          <a:latin typeface="Calibri"/>
                        </a:rPr>
                        <a:t>0.525   (-9.0%)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000000"/>
                          </a:solidFill>
                          <a:latin typeface="Calibri"/>
                        </a:rPr>
                        <a:t>Parameters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000000"/>
                          </a:solidFill>
                          <a:latin typeface="Calibri"/>
                        </a:rPr>
                        <a:t>1,471,921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000000"/>
                          </a:solidFill>
                          <a:latin typeface="Calibri"/>
                        </a:rPr>
                        <a:t>1,493,041  (+1.43%)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212080"/>
            <a:ext cx="1109441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 i="0">
                <a:solidFill>
                  <a:srgbClr val="000000"/>
                </a:solidFill>
                <a:latin typeface="Calibri"/>
              </a:rPr>
              <a:t>Accuracy is unchanged — and we mean that precisely:</a:t>
            </a:r>
            <a:r>
              <a:rPr sz="1300" b="0" i="0">
                <a:solidFill>
                  <a:srgbClr val="000000"/>
                </a:solidFill>
                <a:latin typeface="Calibri"/>
              </a:rPr>
              <a:t> −0.0014 is an eighth of the seed noise. What changed is the cost: </a:t>
            </a:r>
            <a:r>
              <a:rPr sz="1300" b="1" i="0">
                <a:solidFill>
                  <a:srgbClr val="000000"/>
                </a:solidFill>
                <a:latin typeface="Calibri"/>
              </a:rPr>
              <a:t>9% fewer FLOPs</a:t>
            </a:r>
            <a:r>
              <a:rPr sz="1300" b="0" i="0">
                <a:solidFill>
                  <a:srgbClr val="000000"/>
                </a:solidFill>
                <a:latin typeface="Calibri"/>
              </a:rPr>
              <a:t>, on a network whose entire argument is efficiency.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000000"/>
                </a:solidFill>
                <a:latin typeface="Calibri"/>
              </a:rPr>
              <a:t>The network told us the mechanism worked.</a:t>
            </a:r>
            <a:r>
              <a:rPr sz="1300" b="0" i="0">
                <a:solidFill>
                  <a:srgbClr val="000000"/>
                </a:solidFill>
                <a:latin typeface="Calibri"/>
              </a:rPr>
              <a:t> In every block it learned to shrink the diagonal-detail band — the one dominated by speckle — by roughly half.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00000"/>
                </a:solidFill>
                <a:latin typeface="Calibri"/>
              </a:rPr>
              <a:t>The metric the paper never measures: false alarms on healthy tissue</a:t>
            </a:r>
          </a:p>
          <a:p>
            <a:r>
              <a:rPr sz="1400" b="0" i="1">
                <a:solidFill>
                  <a:srgbClr val="555555"/>
                </a:solidFill>
                <a:latin typeface="Calibri"/>
              </a:rPr>
              <a:t>BUSI ships 133 scans with no lesion — no model here was trained on any of them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9441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1" i="0">
                <a:solidFill>
                  <a:srgbClr val="000000"/>
                </a:solidFill>
                <a:latin typeface="Calibri"/>
              </a:rPr>
              <a:t>IoU cannot score a healthy scan.</a:t>
            </a:r>
            <a:r>
              <a:rPr sz="1400" b="0" i="0">
                <a:solidFill>
                  <a:srgbClr val="000000"/>
                </a:solidFill>
                <a:latin typeface="Calibri"/>
              </a:rPr>
              <a:t> The ground-truth mask is empty, so a model that predicts nothing scores perfectly. Every run in this project excluded these 133 cases — which is exactly what makes them a clean held-out test of a different question: </a:t>
            </a:r>
            <a:r>
              <a:rPr sz="1400" b="1" i="0">
                <a:solidFill>
                  <a:srgbClr val="000000"/>
                </a:solidFill>
                <a:latin typeface="Calibri"/>
              </a:rPr>
              <a:t>when there is no tumour, how much does the model invent?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2468880"/>
          <a:ext cx="10607039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20639"/>
                <a:gridCol w="2743200"/>
                <a:gridCol w="2743200"/>
              </a:tblGrid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000000"/>
                          </a:solidFill>
                          <a:latin typeface="Calibri"/>
                        </a:rPr>
                        <a:t>Fraction of the 133 healthy scans predicted completely clean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000000"/>
                          </a:solidFill>
                          <a:latin typeface="Calibri"/>
                        </a:rPr>
                        <a:t>Baseline UNeXt (15 runs)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000000"/>
                          </a:solidFill>
                          <a:latin typeface="Calibri"/>
                        </a:rPr>
                        <a:t>mean 5.5%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000000"/>
                          </a:solidFill>
                          <a:latin typeface="Calibri"/>
                        </a:rPr>
                        <a:t>best 15.8%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000000"/>
                          </a:solidFill>
                          <a:latin typeface="Calibri"/>
                        </a:rPr>
                        <a:t>Wavelet mixer (4 runs)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000000"/>
                          </a:solidFill>
                          <a:latin typeface="Calibri"/>
                        </a:rPr>
                        <a:t>mean 14.8%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000000"/>
                          </a:solidFill>
                          <a:latin typeface="Calibri"/>
                        </a:rPr>
                        <a:t>worst 9.0%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000000"/>
                          </a:solidFill>
                          <a:latin typeface="Calibri"/>
                        </a:rPr>
                        <a:t>Same split, same seed — pair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000000"/>
                          </a:solidFill>
                          <a:latin typeface="Calibri"/>
                        </a:rPr>
                        <a:t>baseline 1.5%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000000"/>
                          </a:solidFill>
                          <a:latin typeface="Calibri"/>
                        </a:rPr>
                        <a:t>wavelet 15.8%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000000"/>
                          </a:solidFill>
                          <a:latin typeface="Calibri"/>
                        </a:rPr>
                        <a:t>Same split, same seed — pair 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000000"/>
                          </a:solidFill>
                          <a:latin typeface="Calibri"/>
                        </a:rPr>
                        <a:t>baseline 7.5%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000000"/>
                          </a:solidFill>
                          <a:latin typeface="Calibri"/>
                        </a:rPr>
                        <a:t>wavelet 15.8%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663440"/>
            <a:ext cx="11094415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50" b="1" i="0">
                <a:solidFill>
                  <a:srgbClr val="000000"/>
                </a:solidFill>
                <a:latin typeface="Calibri"/>
              </a:rPr>
              <a:t>Three of the four wavelet runs beat every one of the fifteen baselines.</a:t>
            </a:r>
            <a:r>
              <a:rPr sz="1250" b="0" i="0">
                <a:solidFill>
                  <a:srgbClr val="000000"/>
                </a:solidFill>
                <a:latin typeface="Calibri"/>
              </a:rPr>
              <a:t> On the two pairs where seed and precision are matched exactly, the gain is +0.14 and +0.08.</a:t>
            </a:r>
          </a:p>
          <a:p>
            <a:pPr>
              <a:spcAft>
                <a:spcPts val="500"/>
              </a:spcAft>
            </a:pPr>
            <a:r>
              <a:rPr sz="1250" b="1" i="0">
                <a:solidFill>
                  <a:srgbClr val="000000"/>
                </a:solidFill>
                <a:latin typeface="Calibri"/>
              </a:rPr>
              <a:t>Honest limit:</a:t>
            </a:r>
            <a:r>
              <a:rPr sz="1250" b="0" i="0">
                <a:solidFill>
                  <a:srgbClr val="000000"/>
                </a:solidFill>
                <a:latin typeface="Calibri"/>
              </a:rPr>
              <a:t> only two of our four wavelet runs are clean pairs — the other two vary the seed as well, so we quote no p-value. The effect is the same size in both groups (+0.113 vs +0.105), which is why we believe it, but n = 2 is not proof.</a:t>
            </a:r>
          </a:p>
          <a:p>
            <a:pPr>
              <a:spcAft>
                <a:spcPts val="500"/>
              </a:spcAft>
            </a:pPr>
            <a:r>
              <a:rPr sz="1250" b="1" i="0">
                <a:solidFill>
                  <a:srgbClr val="000000"/>
                </a:solidFill>
                <a:latin typeface="Calibri"/>
              </a:rPr>
              <a:t>Why it matters clinically:</a:t>
            </a:r>
            <a:r>
              <a:rPr sz="1250" b="0" i="0">
                <a:solidFill>
                  <a:srgbClr val="000000"/>
                </a:solidFill>
                <a:latin typeface="Calibri"/>
              </a:rPr>
              <a:t> in screening, most scans are healthy. A model that segments lesions equally well but hallucinates less on healthy tissue is the better tool, and IoU on lesion cases would never reveal it.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00000"/>
                </a:solidFill>
                <a:latin typeface="Calibri"/>
              </a:rPr>
              <a:t>Challenges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9441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</a:rPr>
              <a:t>1. A real bug in the upstream code.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dataset.py divides by 255 *after* Normalize() has already applied ImageNet statistics — squashing inputs from ±2.5 into </a:t>
            </a:r>
            <a:r>
              <a:rPr sz="1500" b="1" i="0">
                <a:solidFill>
                  <a:srgbClr val="000000"/>
                </a:solidFill>
                <a:latin typeface="Calibri"/>
              </a:rPr>
              <a:t>±0.01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and discarding most of the signal. Found by inspecting tensors, not from any error.</a:t>
            </a:r>
          </a:p>
          <a:p>
            <a:pPr>
              <a:spcAft>
                <a:spcPts val="14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</a:rPr>
              <a:t>2. Frozen BatchNorm is not frozen.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requires_grad=False stops gradients but not the running mean/variance buffers — our "frozen" backbone would have drifted silently, invalidating the attribution.</a:t>
            </a:r>
          </a:p>
          <a:p>
            <a:pPr>
              <a:spcAft>
                <a:spcPts val="14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</a:rPr>
              <a:t>3. Identity-grafting is delicate.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Inserting SE naively halves every activation; initialising too conservatively saturates the sigmoid so it cannot learn. Starting as an exact identity *and* staying trainable took several attempts.</a:t>
            </a:r>
          </a:p>
          <a:p>
            <a:pPr>
              <a:spcAft>
                <a:spcPts val="14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</a:rPr>
              <a:t>4. A 2022 repo on a 2026 stack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— dead dependencies, and no released weights to validate against.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00000"/>
                </a:solidFill>
                <a:latin typeface="Calibri"/>
              </a:rPr>
              <a:t>Conclusions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9441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</a:rPr>
              <a:t>What reproduced — the efficiency claims, exactly.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1,471,921 parameters (paper: 1.47 M), 0.577 GFLOPs (paper: 0.57), 12.5 ms on CPU. UNeXt really is 72× smaller than TransUNet.</a:t>
            </a:r>
          </a:p>
          <a:p>
            <a:pPr>
              <a:spcAft>
                <a:spcPts val="11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</a:rPr>
              <a:t>What did not — the accuracy.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0.593 vs 0.669 IoU, across six runs, with five explanations eliminated and no released weights to check against.</a:t>
            </a:r>
          </a:p>
          <a:p>
            <a:pPr>
              <a:spcAft>
                <a:spcPts val="1100"/>
              </a:spcAft>
            </a:pPr>
          </a:p>
          <a:p>
            <a:pPr>
              <a:spcAft>
                <a:spcPts val="11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</a:rPr>
              <a:t>What we learned:</a:t>
            </a:r>
          </a:p>
          <a:p>
            <a:pPr lvl="1">
              <a:spcAft>
                <a:spcPts val="1100"/>
              </a:spcAft>
            </a:pPr>
            <a:r>
              <a:rPr sz="1400" b="0" i="0">
                <a:solidFill>
                  <a:srgbClr val="555555"/>
                </a:solidFill>
                <a:latin typeface="Calibri"/>
              </a:rPr>
              <a:t>The likely cause is </a:t>
            </a:r>
            <a:r>
              <a:rPr sz="1400" b="1" i="0">
                <a:solidFill>
                  <a:srgbClr val="555555"/>
                </a:solidFill>
                <a:latin typeface="Calibri"/>
              </a:rPr>
              <a:t>under-regularization</a:t>
            </a:r>
            <a:r>
              <a:rPr sz="1400" b="0" i="0">
                <a:solidFill>
                  <a:srgbClr val="555555"/>
                </a:solidFill>
                <a:latin typeface="Calibri"/>
              </a:rPr>
              <a:t> — the paper's augmentation cannot support 518 training images, and every run overfits hard</a:t>
            </a:r>
          </a:p>
          <a:p>
            <a:pPr lvl="1">
              <a:spcAft>
                <a:spcPts val="1100"/>
              </a:spcAft>
            </a:pPr>
            <a:r>
              <a:rPr sz="1400" b="1" i="0">
                <a:solidFill>
                  <a:srgbClr val="555555"/>
                </a:solidFill>
                <a:latin typeface="Calibri"/>
              </a:rPr>
              <a:t>Augmentation is the one intervention that moved the number</a:t>
            </a:r>
            <a:r>
              <a:rPr sz="1400" b="0" i="0">
                <a:solidFill>
                  <a:srgbClr val="555555"/>
                </a:solidFill>
                <a:latin typeface="Calibri"/>
              </a:rPr>
              <a:t>: +0.040 converged, +0.023 at a matched budget — </a:t>
            </a:r>
            <a:r>
              <a:rPr sz="1400" b="1" i="0">
                <a:solidFill>
                  <a:srgbClr val="555555"/>
                </a:solidFill>
                <a:latin typeface="Calibri"/>
              </a:rPr>
              <a:t>0.5931 → 0.6328</a:t>
            </a:r>
            <a:r>
              <a:rPr sz="1400" b="0" i="0">
                <a:solidFill>
                  <a:srgbClr val="555555"/>
                </a:solidFill>
                <a:latin typeface="Calibri"/>
              </a:rPr>
              <a:t>, at zero added cost</a:t>
            </a:r>
          </a:p>
          <a:p>
            <a:pPr lvl="1">
              <a:spcAft>
                <a:spcPts val="1100"/>
              </a:spcAft>
            </a:pPr>
            <a:r>
              <a:rPr sz="1400" b="1" i="0">
                <a:solidFill>
                  <a:srgbClr val="555555"/>
                </a:solidFill>
                <a:latin typeface="Calibri"/>
              </a:rPr>
              <a:t>No architectural modification cleared our own noise floor.</a:t>
            </a:r>
            <a:r>
              <a:rPr sz="1400" b="0" i="0">
                <a:solidFill>
                  <a:srgbClr val="555555"/>
                </a:solidFill>
                <a:latin typeface="Calibri"/>
              </a:rPr>
              <a:t> Five were tried; the largest effect (0.005) is half of what changing the random seed does (0.011)</a:t>
            </a:r>
          </a:p>
          <a:p>
            <a:pPr lvl="1">
              <a:spcAft>
                <a:spcPts val="1100"/>
              </a:spcAft>
            </a:pPr>
            <a:r>
              <a:rPr sz="1400" b="1" i="0">
                <a:solidFill>
                  <a:srgbClr val="555555"/>
                </a:solidFill>
                <a:latin typeface="Calibri"/>
              </a:rPr>
              <a:t>The wavelet mixer is the exception worth reporting</a:t>
            </a:r>
            <a:r>
              <a:rPr sz="1400" b="0" i="0">
                <a:solidFill>
                  <a:srgbClr val="555555"/>
                </a:solidFill>
                <a:latin typeface="Calibri"/>
              </a:rPr>
              <a:t> — identical accuracy for </a:t>
            </a:r>
            <a:r>
              <a:rPr sz="1400" b="1" i="0">
                <a:solidFill>
                  <a:srgbClr val="555555"/>
                </a:solidFill>
                <a:latin typeface="Calibri"/>
              </a:rPr>
              <a:t>9% fewer FLOPs</a:t>
            </a:r>
            <a:r>
              <a:rPr sz="1400" b="0" i="0">
                <a:solidFill>
                  <a:srgbClr val="555555"/>
                </a:solidFill>
                <a:latin typeface="Calibri"/>
              </a:rPr>
              <a:t>, and markedly fewer false alarms on healthy tissue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53212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 i="0">
                <a:solidFill>
                  <a:srgbClr val="000000"/>
                </a:solidFill>
                <a:latin typeface="Calibri"/>
              </a:rPr>
              <a:t>Takeaway: the training recipe mattered more than the architecture — and most reported gains this size are indistinguishable from the random seed.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00000"/>
                </a:solidFill>
                <a:latin typeface="Calibri"/>
              </a:rPr>
              <a:t>Appendix: qualitative results</a:t>
            </a:r>
          </a:p>
          <a:p>
            <a:r>
              <a:rPr sz="1400" b="0" i="1">
                <a:solidFill>
                  <a:srgbClr val="555555"/>
                </a:solidFill>
                <a:latin typeface="Calibri"/>
              </a:rPr>
              <a:t>Best, median and worst cases from the held-out split</a:t>
            </a:r>
          </a:p>
        </p:txBody>
      </p:sp>
      <p:pic>
        <p:nvPicPr>
          <p:cNvPr id="3" name="Picture 2" descr="fig4_qualita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7292" y="1234440"/>
            <a:ext cx="4757110" cy="4937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99632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555555"/>
                </a:solidFill>
                <a:latin typeface="Calibri"/>
              </a:rPr>
              <a:t>The failure case (bottom): the model responds to hypoechoic regions at the top of the image while missing the small true lesion — small lesions on noisy scans remain hard.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00000"/>
                </a:solidFill>
                <a:latin typeface="Calibri"/>
              </a:rPr>
              <a:t>Appendix: what Focal Tversky actually changed</a:t>
            </a:r>
          </a:p>
          <a:p>
            <a:r>
              <a:rPr sz="1400" b="0" i="1">
                <a:solidFill>
                  <a:srgbClr val="555555"/>
                </a:solidFill>
                <a:latin typeface="Calibri"/>
              </a:rPr>
              <a:t>The loss shifts the model toward finding tumour, at some cost in false alarms</a:t>
            </a:r>
          </a:p>
        </p:txBody>
      </p:sp>
      <p:pic>
        <p:nvPicPr>
          <p:cNvPr id="3" name="Picture 2" descr="fig7_precision_rec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4007" y="1371600"/>
            <a:ext cx="6583680" cy="3931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99632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555555"/>
                </a:solidFill>
                <a:latin typeface="Calibri"/>
              </a:rPr>
              <a:t>Recall +0.065, precision −0.042 — the asymmetry the Tversky β&gt;α weighting was chosen to produce. Clinically the right direction: a missed tumour costs more than a second look.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UNeXt: MLP-based Rapid Medical Image Segmentation Network</dc:title>
  <dc:subject>Reproduction study on the BUSI breast-ultrasound dataset</dc:subject>
  <dc:creator>Deep Learning 83882 - final project</dc:creator>
  <cp:keywords/>
  <dc:description/>
  <cp:lastModifiedBy/>
  <cp:revision>1</cp:revision>
  <dcterms:created xsi:type="dcterms:W3CDTF">2013-01-27T09:14:16Z</dcterms:created>
  <dcterms:modified xsi:type="dcterms:W3CDTF">2013-01-27T09:15:58Z</dcterms:modified>
  <cp:category/>
</cp:coreProperties>
</file>