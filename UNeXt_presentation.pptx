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070" autoAdjust="0"/>
  </p:normalViewPr>
  <p:slideViewPr>
    <p:cSldViewPr snapToGrid="0" snapToObjects="1">
      <p:cViewPr varScale="1">
        <p:scale>
          <a:sx n="81" d="100"/>
          <a:sy n="81" d="100"/>
        </p:scale>
        <p:origin x="725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000000"/>
                </a:solidFill>
                <a:latin typeface="Calibri"/>
              </a:rPr>
              <a:t>UNeXt: MLP-based Rapid Medical
Image Segmentation Network</a:t>
            </a:r>
          </a:p>
          <a:p>
            <a:r>
              <a:rPr sz="1500" b="0" i="0">
                <a:solidFill>
                  <a:srgbClr val="555555"/>
                </a:solidFill>
                <a:latin typeface="Calibri"/>
              </a:rPr>
              <a:t>Valanarasu &amp; Patel, Johns Hopkins University — MICCAI 2022 (arXiv:2203.04967, March 2022)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7416190"/>
              </p:ext>
            </p:extLst>
          </p:nvPr>
        </p:nvGraphicFramePr>
        <p:xfrm>
          <a:off x="548640" y="2834640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677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Group members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Ze'ev </a:t>
                      </a:r>
                      <a:r>
                        <a:rPr lang="en-US" sz="1400" dirty="0" err="1"/>
                        <a:t>Gastevert</a:t>
                      </a:r>
                      <a:endParaRPr sz="1400" b="0" i="0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—</a:t>
                      </a:r>
                      <a:endParaRPr sz="1400" b="0" i="0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Ido Leibowitz</a:t>
                      </a:r>
                      <a:endParaRPr sz="1400" b="0" i="0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—</a:t>
                      </a:r>
                      <a:endParaRPr sz="1400" b="0" i="0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David Sheinenzon</a:t>
                      </a:r>
                      <a:endParaRPr sz="1400" b="0" i="0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—</a:t>
                      </a:r>
                      <a:endParaRPr sz="1400" b="0" i="0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766560" y="283464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14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Code: </a:t>
            </a:r>
            <a:r>
              <a:rPr sz="1400" b="0" i="0">
                <a:solidFill>
                  <a:srgbClr val="555555"/>
                </a:solidFill>
                <a:latin typeface="Calibri"/>
              </a:rPr>
              <a:t>&lt;GITHUB / DRIVE LINK&gt;</a:t>
            </a:r>
          </a:p>
          <a:p>
            <a:pPr>
              <a:spcAft>
                <a:spcPts val="14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Video: </a:t>
            </a:r>
            <a:r>
              <a:rPr sz="1400" b="0" i="0">
                <a:solidFill>
                  <a:srgbClr val="555555"/>
                </a:solidFill>
                <a:latin typeface="Calibri"/>
              </a:rPr>
              <a:t>&lt;UNLISTED YOUTUBE LINK&gt;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Fill in all placeholders before submitting — missing items are </a:t>
            </a:r>
            <a:r>
              <a:rPr sz="1200" b="0" i="1" dirty="0" err="1">
                <a:solidFill>
                  <a:srgbClr val="555555"/>
                </a:solidFill>
                <a:latin typeface="Calibri"/>
              </a:rPr>
              <a:t>penalised</a:t>
            </a:r>
            <a:r>
              <a:rPr sz="1200" b="0" i="1" dirty="0">
                <a:solidFill>
                  <a:srgbClr val="555555"/>
                </a:solidFill>
                <a:latin typeface="Calibri"/>
              </a:rPr>
              <a:t>. Paste the video link in this slide's comment section as well.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Motivation: segmentation at the point of care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Medical image segmentation guides diagnosis — outlining a lesion in an ultrasound scan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U-Net and its successors are accurate, but </a:t>
            </a:r>
            <a:r>
              <a:rPr sz="1600" b="1" i="0">
                <a:solidFill>
                  <a:srgbClr val="000000"/>
                </a:solidFill>
                <a:latin typeface="Calibri"/>
              </a:rPr>
              <a:t>parameter-heavy and slow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Point-of-care use — a handheld probe, a clinic laptop, a field device — needs inference on </a:t>
            </a:r>
            <a:r>
              <a:rPr sz="1600" b="1" i="0">
                <a:solidFill>
                  <a:srgbClr val="000000"/>
                </a:solidFill>
                <a:latin typeface="Calibri"/>
              </a:rPr>
              <a:t>CPU, in seconds</a:t>
            </a:r>
            <a:r>
              <a:rPr sz="1600" b="0" i="0">
                <a:solidFill>
                  <a:srgbClr val="000000"/>
                </a:solidFill>
                <a:latin typeface="Calibri"/>
              </a:rPr>
              <a:t>, not a datacenter GPU</a:t>
            </a:r>
          </a:p>
          <a:p>
            <a:pPr lvl="1">
              <a:spcAft>
                <a:spcPts val="1000"/>
              </a:spcAft>
            </a:pPr>
            <a:r>
              <a:rPr sz="1500" b="0" i="0">
                <a:solidFill>
                  <a:srgbClr val="555555"/>
                </a:solidFill>
                <a:latin typeface="Calibri"/>
              </a:rPr>
              <a:t>TransUNet: 105.32 M parameters, 38.52 GFLOPs, </a:t>
            </a:r>
            <a:r>
              <a:rPr sz="1500" b="1" i="0">
                <a:solidFill>
                  <a:srgbClr val="555555"/>
                </a:solidFill>
                <a:latin typeface="Calibri"/>
              </a:rPr>
              <a:t>246 ms</a:t>
            </a:r>
            <a:r>
              <a:rPr sz="1500" b="0" i="0">
                <a:solidFill>
                  <a:srgbClr val="555555"/>
                </a:solidFill>
                <a:latin typeface="Calibri"/>
              </a:rPr>
              <a:t> per image on CPU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The question: </a:t>
            </a:r>
            <a:r>
              <a:rPr sz="1600" b="1" i="0">
                <a:solidFill>
                  <a:srgbClr val="000000"/>
                </a:solidFill>
                <a:latin typeface="Calibri"/>
              </a:rPr>
              <a:t>can we keep the accuracy at a fraction of the cost?</a:t>
            </a:r>
          </a:p>
        </p:txBody>
      </p:sp>
      <p:pic>
        <p:nvPicPr>
          <p:cNvPr id="4" name="Picture 3" descr="fig5_effici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047" y="3200400"/>
            <a:ext cx="51816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The solution: UNeXt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U-Net shape — but the deep layers use MLPs, not convolution or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1" y="1463040"/>
            <a:ext cx="5079162" cy="3441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 dirty="0">
                <a:solidFill>
                  <a:srgbClr val="000000"/>
                </a:solidFill>
                <a:latin typeface="Calibri"/>
              </a:rPr>
              <a:t>Conv stage</a:t>
            </a:r>
            <a:r>
              <a:rPr sz="1600" b="0" i="0" dirty="0">
                <a:solidFill>
                  <a:srgbClr val="000000"/>
                </a:solidFill>
                <a:latin typeface="Calibri"/>
              </a:rPr>
              <a:t> (3 shallow levels) — Conv3×3 → BN → </a:t>
            </a:r>
            <a:r>
              <a:rPr sz="1600" b="0" i="0" dirty="0" err="1">
                <a:solidFill>
                  <a:srgbClr val="000000"/>
                </a:solidFill>
                <a:latin typeface="Calibri"/>
              </a:rPr>
              <a:t>ReLU</a:t>
            </a:r>
            <a:r>
              <a:rPr sz="1600" b="0" i="0" dirty="0">
                <a:solidFill>
                  <a:srgbClr val="000000"/>
                </a:solidFill>
                <a:latin typeface="Calibri"/>
              </a:rPr>
              <a:t>, narrow channels (16/32/128)</a:t>
            </a:r>
          </a:p>
          <a:p>
            <a:pPr>
              <a:spcAft>
                <a:spcPts val="1000"/>
              </a:spcAft>
            </a:pPr>
            <a:r>
              <a:rPr sz="1600" b="1" i="0" dirty="0">
                <a:solidFill>
                  <a:srgbClr val="000000"/>
                </a:solidFill>
                <a:latin typeface="Calibri"/>
              </a:rPr>
              <a:t>Tokenized MLP stage</a:t>
            </a:r>
            <a:r>
              <a:rPr sz="1600" b="0" i="0" dirty="0">
                <a:solidFill>
                  <a:srgbClr val="000000"/>
                </a:solidFill>
                <a:latin typeface="Calibri"/>
              </a:rPr>
              <a:t> (2 deep levels) — features are tokenized, then passed through shifted MLPs</a:t>
            </a:r>
          </a:p>
          <a:p>
            <a:pPr>
              <a:spcAft>
                <a:spcPts val="1000"/>
              </a:spcAft>
            </a:pPr>
            <a:r>
              <a:rPr sz="1600" b="1" i="0" dirty="0">
                <a:solidFill>
                  <a:srgbClr val="000000"/>
                </a:solidFill>
                <a:latin typeface="Calibri"/>
              </a:rPr>
              <a:t>Skip connections</a:t>
            </a:r>
            <a:r>
              <a:rPr sz="1600" b="0" i="0" dirty="0">
                <a:solidFill>
                  <a:srgbClr val="000000"/>
                </a:solidFill>
                <a:latin typeface="Calibri"/>
              </a:rPr>
              <a:t> join matching encoder and decoder levels</a:t>
            </a:r>
          </a:p>
          <a:p>
            <a:pPr>
              <a:spcAft>
                <a:spcPts val="1000"/>
              </a:spcAft>
            </a:pPr>
            <a:endParaRPr sz="1600" b="0" i="0" dirty="0">
              <a:solidFill>
                <a:srgbClr val="000000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1600" b="1" i="0" dirty="0">
                <a:solidFill>
                  <a:srgbClr val="000000"/>
                </a:solidFill>
                <a:latin typeface="Calibri"/>
              </a:rPr>
              <a:t>Why MLPs?</a:t>
            </a:r>
            <a:r>
              <a:rPr sz="1600" b="0" i="0" dirty="0">
                <a:solidFill>
                  <a:srgbClr val="000000"/>
                </a:solidFill>
                <a:latin typeface="Calibri"/>
              </a:rPr>
              <a:t> Self-attention costs O(n²) in the number of tokens. MLPs are plain matrix multiplies — far cheaper.</a:t>
            </a:r>
          </a:p>
          <a:p>
            <a:pPr>
              <a:spcAft>
                <a:spcPts val="1000"/>
              </a:spcAft>
            </a:pPr>
            <a:r>
              <a:rPr sz="1600" b="1" i="0" dirty="0">
                <a:solidFill>
                  <a:srgbClr val="000000"/>
                </a:solidFill>
                <a:latin typeface="Calibri"/>
              </a:rPr>
              <a:t>The catch:</a:t>
            </a:r>
            <a:r>
              <a:rPr sz="1600" b="0" i="0" dirty="0">
                <a:solidFill>
                  <a:srgbClr val="000000"/>
                </a:solidFill>
                <a:latin typeface="Calibri"/>
              </a:rPr>
              <a:t> an MLP is spatially blind. It has no notion of "adjacent pixel".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128D3F-1A8A-BBDC-6EC2-1BB30C9B60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7143"/>
          <a:stretch>
            <a:fillRect/>
          </a:stretch>
        </p:blipFill>
        <p:spPr>
          <a:xfrm>
            <a:off x="5760188" y="1039305"/>
            <a:ext cx="6254273" cy="43556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The key trick: shifted MLPs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How UNeXt gives an MLP a sense of locality — for free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Before each Linear layer, feature-map chunks are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cyclically shifted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(torch.roll, ±2 px) along height, then width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A depthwise convolution sits between the two Linear layers as positional encoding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Each token now mixes with its actual spatial neighbours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before projection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Cost: zero extra parameters, zero extra FLOPs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it is pure indexing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566160"/>
          <a:ext cx="11094413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5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5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54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Paper's reported results (BUSI)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UNeXt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TransUNet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Factor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1.47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105.32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72× fewer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GFLOPs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0.57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38.52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68× less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CPU inference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25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246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10× faster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IoU / F1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0.6695 / 0.7937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lower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p &lt; 10⁻⁵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This locality bias is why UNeXt trains from scratch without ImageNet pretraining, unlike ViT-based medical models.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Our setup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BUSI · RTX 5060 Laptop · 11 training runs · ~10 h GPU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Dataset: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BUSI breast ultrasound — 647 images (437 benign + 210 malignant), 80/20 split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Protocol: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the authors' exact README command, then controlled variations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Getting a 2022 repo to run in 2026: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removed an unused mmcv import, updated timm and albumentations APIs, and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wrote the dataset preprocessing ourselves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the repo ships none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200400"/>
          <a:ext cx="7680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Sanity check — does our implementation match?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1,471,921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1.47 M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GFLOPs @ 256×256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0.577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0.57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CPU inference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12.5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25 ms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This matters: the architecture reproduces exactly, so any accuracy gap that follows is NOT a broken implementation.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We could not reproduce the reported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Running the authors'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exact command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(512×512, 500 epochs, lr 1e-4, batch 8):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IoU 0.5956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vs the paper's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0.6695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Six runs across four configurations all land in 0.569 – 0.602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3-split mean (the paper's own protocol):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0.5931 ± 0.0210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short by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0.076 IoU</a:t>
            </a:r>
          </a:p>
        </p:txBody>
      </p:sp>
      <p:pic>
        <p:nvPicPr>
          <p:cNvPr id="4" name="Picture 3" descr="fig2_reprodu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3607" y="2651760"/>
            <a:ext cx="5364480" cy="3017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And there are no official weights to check against: the repo ships none, and GitHub issues #11 (Apr 2022) and #21 (Jul 2022) requesting them are still open and unanswered.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Five hypotheses, systematically eliminated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1094412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3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860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5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825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Hypothesis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How we tested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Wrong resolution (256 vs 512)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ran both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512 was worse (0.5956 vs 0.5975)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Mixed precision hurt 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AMP vs FP32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tied at every 50-epoch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Wrong decision threshold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swept 0.3 – 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flat; 0.5 already optimal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Unlucky split composition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checked 3 seeds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balanced on class + lesion area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Split averaging (paper = mean of 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ran 3 splits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spread 0.039 vs gap 0.076 → 3.6σ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663440"/>
            <a:ext cx="1109441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Hypothesis 5 is decisive: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split-to-split variation is ~3.6× too small to explain the gap. Even our best single split (0.6085) falls well short of 0.6695.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Conclusion: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the gap is real and systematic — not a configuration mistake on our side.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Diagnosis: the model overfits badly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Validation IoU peaks at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epoch ~95–107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, then declines for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300+ epochs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Final train IoU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0.87–0.91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vs validation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0.56–0.58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→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+0.31 generalization gap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Root cause: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the paper augments with rotate90 + flips only — not enough for 518 training images</a:t>
            </a:r>
          </a:p>
        </p:txBody>
      </p:sp>
      <p:pic>
        <p:nvPicPr>
          <p:cNvPr id="4" name="Picture 3" descr="fig1_overfit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1047" y="2697480"/>
            <a:ext cx="56896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Our fix: stronger augmentation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Added affine, brightness/contrast, gamma and elastic deformation</a:t>
            </a:r>
          </a:p>
        </p:txBody>
      </p:sp>
      <p:pic>
        <p:nvPicPr>
          <p:cNvPr id="3" name="Picture 2" descr="fig3_augment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767" y="1325880"/>
            <a:ext cx="10424160" cy="40748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257799"/>
            <a:ext cx="11094415" cy="1428161"/>
          </a:xfrm>
          <a:custGeom>
            <a:avLst/>
            <a:gdLst>
              <a:gd name="csX0" fmla="*/ 0 w 11094415"/>
              <a:gd name="csY0" fmla="*/ 0 h 2286000"/>
              <a:gd name="csX1" fmla="*/ 11094415 w 11094415"/>
              <a:gd name="csY1" fmla="*/ 0 h 2286000"/>
              <a:gd name="csX2" fmla="*/ 11094415 w 11094415"/>
              <a:gd name="csY2" fmla="*/ 2286000 h 2286000"/>
              <a:gd name="csX3" fmla="*/ 0 w 11094415"/>
              <a:gd name="csY3" fmla="*/ 2286000 h 2286000"/>
              <a:gd name="csX4" fmla="*/ 0 w 11094415"/>
              <a:gd name="csY4" fmla="*/ 0 h 2286000"/>
              <a:gd name="csX0" fmla="*/ 0 w 11094415"/>
              <a:gd name="csY0" fmla="*/ 0 h 2286000"/>
              <a:gd name="csX1" fmla="*/ 11094415 w 11094415"/>
              <a:gd name="csY1" fmla="*/ 0 h 2286000"/>
              <a:gd name="csX2" fmla="*/ 11009573 w 11094415"/>
              <a:gd name="csY2" fmla="*/ 1362173 h 2286000"/>
              <a:gd name="csX3" fmla="*/ 0 w 11094415"/>
              <a:gd name="csY3" fmla="*/ 2286000 h 2286000"/>
              <a:gd name="csX4" fmla="*/ 0 w 11094415"/>
              <a:gd name="csY4" fmla="*/ 0 h 2286000"/>
              <a:gd name="csX0" fmla="*/ 0 w 11094415"/>
              <a:gd name="csY0" fmla="*/ 0 h 2286000"/>
              <a:gd name="csX1" fmla="*/ 11094415 w 11094415"/>
              <a:gd name="csY1" fmla="*/ 0 h 2286000"/>
              <a:gd name="csX2" fmla="*/ 11075560 w 11094415"/>
              <a:gd name="csY2" fmla="*/ 1428161 h 2286000"/>
              <a:gd name="csX3" fmla="*/ 0 w 11094415"/>
              <a:gd name="csY3" fmla="*/ 2286000 h 2286000"/>
              <a:gd name="csX4" fmla="*/ 0 w 11094415"/>
              <a:gd name="csY4" fmla="*/ 0 h 2286000"/>
              <a:gd name="csX0" fmla="*/ 0 w 11094415"/>
              <a:gd name="csY0" fmla="*/ 0 h 1428161"/>
              <a:gd name="csX1" fmla="*/ 11094415 w 11094415"/>
              <a:gd name="csY1" fmla="*/ 0 h 1428161"/>
              <a:gd name="csX2" fmla="*/ 11075560 w 11094415"/>
              <a:gd name="csY2" fmla="*/ 1428161 h 1428161"/>
              <a:gd name="csX3" fmla="*/ 0 w 11094415"/>
              <a:gd name="csY3" fmla="*/ 1428160 h 1428161"/>
              <a:gd name="csX4" fmla="*/ 0 w 11094415"/>
              <a:gd name="csY4" fmla="*/ 0 h 14281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094415" h="1428161">
                <a:moveTo>
                  <a:pt x="0" y="0"/>
                </a:moveTo>
                <a:lnTo>
                  <a:pt x="11094415" y="0"/>
                </a:lnTo>
                <a:lnTo>
                  <a:pt x="11075560" y="1428161"/>
                </a:lnTo>
                <a:lnTo>
                  <a:pt x="0" y="142816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 i="0" dirty="0">
                <a:solidFill>
                  <a:srgbClr val="000000"/>
                </a:solidFill>
                <a:latin typeface="Calibri"/>
              </a:rPr>
              <a:t>Mean </a:t>
            </a:r>
            <a:r>
              <a:rPr sz="1400" b="1" i="0" dirty="0" err="1">
                <a:solidFill>
                  <a:srgbClr val="000000"/>
                </a:solidFill>
                <a:latin typeface="Calibri"/>
              </a:rPr>
              <a:t>IoU</a:t>
            </a:r>
            <a:r>
              <a:rPr sz="1400" b="1" i="0" dirty="0">
                <a:solidFill>
                  <a:srgbClr val="000000"/>
                </a:solidFill>
                <a:latin typeface="Calibri"/>
              </a:rPr>
              <a:t> 0.5931 → 0.6328 (+0.040).</a:t>
            </a:r>
            <a:r>
              <a:rPr sz="1400" b="0" i="0" dirty="0">
                <a:solidFill>
                  <a:srgbClr val="000000"/>
                </a:solidFill>
                <a:latin typeface="Calibri"/>
              </a:rPr>
              <a:t> All three splits improved. Gap to paper halved: 0.076 → 0.037</a:t>
            </a:r>
          </a:p>
          <a:p>
            <a:pPr>
              <a:spcAft>
                <a:spcPts val="700"/>
              </a:spcAft>
            </a:pPr>
            <a:r>
              <a:rPr sz="1400" b="0" i="0" dirty="0">
                <a:solidFill>
                  <a:srgbClr val="000000"/>
                </a:solidFill>
                <a:latin typeface="Calibri"/>
              </a:rPr>
              <a:t>Overfitting gap cut </a:t>
            </a:r>
            <a:r>
              <a:rPr sz="1400" b="1" i="0" dirty="0">
                <a:solidFill>
                  <a:srgbClr val="000000"/>
                </a:solidFill>
                <a:latin typeface="Calibri"/>
              </a:rPr>
              <a:t>60%</a:t>
            </a:r>
            <a:r>
              <a:rPr sz="1400" b="0" i="0" dirty="0">
                <a:solidFill>
                  <a:srgbClr val="000000"/>
                </a:solidFill>
                <a:latin typeface="Calibri"/>
              </a:rPr>
              <a:t>; Dice variance collapsed </a:t>
            </a:r>
            <a:r>
              <a:rPr sz="1400" b="1" i="0" dirty="0">
                <a:solidFill>
                  <a:srgbClr val="000000"/>
                </a:solidFill>
                <a:latin typeface="Calibri"/>
              </a:rPr>
              <a:t>15×</a:t>
            </a:r>
            <a:r>
              <a:rPr sz="1400" b="0" i="0" dirty="0">
                <a:solidFill>
                  <a:srgbClr val="000000"/>
                </a:solidFill>
                <a:latin typeface="Calibri"/>
              </a:rPr>
              <a:t> (±0.0202 → ±0.0013)</a:t>
            </a:r>
          </a:p>
          <a:p>
            <a:pPr>
              <a:spcAft>
                <a:spcPts val="700"/>
              </a:spcAft>
            </a:pPr>
            <a:r>
              <a:rPr sz="1400" b="1" i="0" dirty="0">
                <a:solidFill>
                  <a:srgbClr val="000000"/>
                </a:solidFill>
                <a:latin typeface="Calibri"/>
              </a:rPr>
              <a:t>Honest caveat:</a:t>
            </a:r>
            <a:r>
              <a:rPr sz="1400" b="0" i="0" dirty="0">
                <a:solidFill>
                  <a:srgbClr val="000000"/>
                </a:solidFill>
                <a:latin typeface="Calibri"/>
              </a:rPr>
              <a:t> at a *matched* 100-epoch budget augmentation gives no gain. It does not converge faster — it </a:t>
            </a:r>
            <a:r>
              <a:rPr sz="1400" b="1" i="0" dirty="0">
                <a:solidFill>
                  <a:srgbClr val="000000"/>
                </a:solidFill>
                <a:latin typeface="Calibri"/>
              </a:rPr>
              <a:t>removes the ceiling</a:t>
            </a:r>
            <a:r>
              <a:rPr sz="1400" b="0" i="0" dirty="0">
                <a:solidFill>
                  <a:srgbClr val="000000"/>
                </a:solidFill>
                <a:latin typeface="Calibri"/>
              </a:rPr>
              <a:t>, letting training run to ep282–390.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Architectural modifications: a negative result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Both grafted onto our best model and fine-tuned with the backbone frozen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508760"/>
          <a:ext cx="1060703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5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85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34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775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000000"/>
                          </a:solidFill>
                          <a:latin typeface="Calibri"/>
                        </a:rPr>
                        <a:t>SE 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000000"/>
                          </a:solidFill>
                          <a:latin typeface="Calibri"/>
                        </a:rPr>
                        <a:t>Skip-Fusion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000000"/>
                          </a:solidFill>
                          <a:latin typeface="Calibri"/>
                        </a:rPr>
                        <a:t>Focal Tversky 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What it changes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per-channel gating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gate on skip connections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the loss function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New parameters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8,160 (0.55%)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86,864 (5.57%)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00000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Extra compute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+11% GFLOPs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00000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000000"/>
                          </a:solidFill>
                          <a:latin typeface="Calibri"/>
                        </a:rPr>
                        <a:t>Change in IoU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000000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000000"/>
                          </a:solidFill>
                          <a:latin typeface="Calibri"/>
                        </a:rPr>
                        <a:t>+0.006  (1 split)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000000"/>
                          </a:solidFill>
                          <a:latin typeface="Calibri"/>
                        </a:rPr>
                        <a:t>+0.013  (3 splits)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749039"/>
            <a:ext cx="11094415" cy="2651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50" b="1" i="0">
                <a:solidFill>
                  <a:srgbClr val="000000"/>
                </a:solidFill>
                <a:latin typeface="Calibri"/>
              </a:rPr>
              <a:t>The two architectural changes barely moved the number.</a:t>
            </a:r>
            <a:r>
              <a:rPr sz="1350" b="0" i="0">
                <a:solidFill>
                  <a:srgbClr val="000000"/>
                </a:solidFill>
                <a:latin typeface="Calibri"/>
              </a:rPr>
              <a:t> Skip-Fusion's +0.006 is half our split-to-split noise (±0.013) — and costs 11% more compute on a network whose entire selling point is efficiency.</a:t>
            </a:r>
          </a:p>
          <a:p>
            <a:pPr>
              <a:spcAft>
                <a:spcPts val="700"/>
              </a:spcAft>
            </a:pPr>
            <a:r>
              <a:rPr sz="1350" b="1" i="0">
                <a:solidFill>
                  <a:srgbClr val="000000"/>
                </a:solidFill>
                <a:latin typeface="Calibri"/>
              </a:rPr>
              <a:t>Why they failed is the interesting part.</a:t>
            </a:r>
            <a:r>
              <a:rPr sz="1350" b="0" i="0">
                <a:solidFill>
                  <a:srgbClr val="000000"/>
                </a:solidFill>
                <a:latin typeface="Calibri"/>
              </a:rPr>
              <a:t> We measured the gradient reaching each new layer: SE received </a:t>
            </a:r>
            <a:r>
              <a:rPr sz="1350" b="1" i="0">
                <a:solidFill>
                  <a:srgbClr val="000000"/>
                </a:solidFill>
                <a:latin typeface="Calibri"/>
              </a:rPr>
              <a:t>exactly 0.000000</a:t>
            </a:r>
            <a:r>
              <a:rPr sz="1350" b="0" i="0">
                <a:solidFill>
                  <a:srgbClr val="000000"/>
                </a:solidFill>
                <a:latin typeface="Calibri"/>
              </a:rPr>
              <a:t> — on a converged model the network has no use for channel reweighting. Skip-Fusion received real signal (1e-3), and did slightly better.</a:t>
            </a:r>
          </a:p>
          <a:p>
            <a:pPr>
              <a:spcAft>
                <a:spcPts val="700"/>
              </a:spcAft>
            </a:pPr>
            <a:r>
              <a:rPr sz="1350" b="1" i="0">
                <a:solidFill>
                  <a:srgbClr val="000000"/>
                </a:solidFill>
                <a:latin typeface="Calibri"/>
              </a:rPr>
              <a:t>The change that worked best altered no layers at all</a:t>
            </a:r>
            <a:r>
              <a:rPr sz="1350" b="0" i="0">
                <a:solidFill>
                  <a:srgbClr val="000000"/>
                </a:solidFill>
                <a:latin typeface="Calibri"/>
              </a:rPr>
              <a:t> — swapping Dice for Focal Tversky in the loss raised IoU by +0.013 across three splits, for </a:t>
            </a:r>
            <a:r>
              <a:rPr sz="1350" b="1" i="0">
                <a:solidFill>
                  <a:srgbClr val="000000"/>
                </a:solidFill>
                <a:latin typeface="Calibri"/>
              </a:rPr>
              <a:t>zero parameters and zero FLOPs</a:t>
            </a:r>
            <a:r>
              <a:rPr sz="1350" b="0" i="0">
                <a:solidFill>
                  <a:srgbClr val="000000"/>
                </a:solidFill>
                <a:latin typeface="Calibri"/>
              </a:rPr>
              <a:t> (next slide).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The best modification changed no layers at all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Focal Tversky loss — zero parameters, zero FLOPs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Dice loss treats both errors equally: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marking healthy tissue as tumour, and missing real tumour. Clinically these are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not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equally bad.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Tversky loss makes the trade-off tunable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(α=0.3, β=0.7) — missing a lesion is weighted more heavily. The focal term then concentrates training on hard images.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514600"/>
          <a:ext cx="10607039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356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28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5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All 3 splits, on top of strong augmentation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BCE+Dice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Focal Tversky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seed 41 / 42 / 43 — best IoU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0.6215 / 0.6306 / 0.6464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0.6397 / 0.6359 / 0.6629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Mean IoU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0.6328 ± 0.0126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0.6461 ± 0.0146  (+0.013)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Mean Dice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0.7718 ± 0.0013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0.7756 ± 0.0054  (+0.004)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Recall (of true tumour pixels, fraction found)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0.7882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0.8536  (+0.065)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Precision (of predicted pixels, fraction correct)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0.7928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0.7510  (−0.042)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882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Parameters / GFLOPs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1.47 M / 0.577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349240"/>
            <a:ext cx="11094415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000000"/>
                </a:solidFill>
                <a:latin typeface="Calibri"/>
              </a:rPr>
              <a:t>IoU improved on all three splits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 (+0.018, +0.005, +0.017), paired t-test p = 0.081. Consistent in direction, but the magnitude varies by split — and Dice barely moves.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>The mechanism worked as designed: a large recall gain for a smaller precision cost — the right trade when missing a tumour is worse than a false alarm.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Both changes stack — and neither costs anything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Paper recipe → + strong augmentation → + Focal Tversky loss, 3 splits</a:t>
            </a:r>
          </a:p>
        </p:txBody>
      </p:sp>
      <p:pic>
        <p:nvPicPr>
          <p:cNvPr id="3" name="Picture 2" descr="fig6_cumulat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327" y="1280160"/>
            <a:ext cx="10607040" cy="40583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394960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0.5931 → 0.6461 IoU (+0.053)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 — about </a:t>
            </a:r>
            <a:r>
              <a:rPr sz="1400" b="1" i="0">
                <a:solidFill>
                  <a:srgbClr val="000000"/>
                </a:solidFill>
                <a:latin typeface="Calibri"/>
              </a:rPr>
              <a:t>70% of the original gap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 to the paper, with the model unchanged: still 1,471,921 parameters and 0.577 GFLOPs.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1. A real bug in the upstream code.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dataset.py divides by 255 *after* Normalize() has already applied ImageNet statistics — squashing inputs from ±2.5 into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±0.01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and discarding most of the signal. Found by inspecting tensors, not from any error.</a:t>
            </a:r>
          </a:p>
          <a:p>
            <a:pPr>
              <a:spcAft>
                <a:spcPts val="14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2. Frozen BatchNorm is not frozen.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requires_grad=False stops gradients but not the running mean/variance buffers — our "frozen" backbone would have drifted silently, invalidating the attribution.</a:t>
            </a:r>
          </a:p>
          <a:p>
            <a:pPr>
              <a:spcAft>
                <a:spcPts val="14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3. Identity-grafting is delicate.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Inserting SE naively halves every activation; initialising too conservatively saturates the sigmoid so it cannot learn. Starting as an exact identity *and* staying trainable took several attempts.</a:t>
            </a:r>
          </a:p>
          <a:p>
            <a:pPr>
              <a:spcAft>
                <a:spcPts val="14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4. A 2022 repo on a 2026 stack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dead dependencies, and no released weights to validate against.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What reproduced — the efficiency claims, exactly.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1,471,921 parameters (paper: 1.47 M), 0.577 GFLOPs (paper: 0.57), 12.5 ms on CPU. UNeXt really is 72× smaller than TransUNet.</a:t>
            </a:r>
          </a:p>
          <a:p>
            <a:pPr>
              <a:spcAft>
                <a:spcPts val="11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What did not — the accuracy.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0.593 vs 0.669 IoU, across six runs, with five explanations eliminated and no released weights to check against.</a:t>
            </a:r>
          </a:p>
          <a:p>
            <a:pPr>
              <a:spcAft>
                <a:spcPts val="1100"/>
              </a:spcAft>
            </a:pPr>
            <a:endParaRPr sz="1500" b="0" i="0">
              <a:solidFill>
                <a:srgbClr val="000000"/>
              </a:solidFill>
              <a:latin typeface="Calibri"/>
            </a:endParaRPr>
          </a:p>
          <a:p>
            <a:pPr>
              <a:spcAft>
                <a:spcPts val="11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What we learned:</a:t>
            </a:r>
          </a:p>
          <a:p>
            <a:pPr lvl="1">
              <a:spcAft>
                <a:spcPts val="1100"/>
              </a:spcAft>
            </a:pPr>
            <a:r>
              <a:rPr sz="1400" b="0" i="0">
                <a:solidFill>
                  <a:srgbClr val="555555"/>
                </a:solidFill>
                <a:latin typeface="Calibri"/>
              </a:rPr>
              <a:t>The likely cause is </a:t>
            </a:r>
            <a:r>
              <a:rPr sz="1400" b="1" i="0">
                <a:solidFill>
                  <a:srgbClr val="555555"/>
                </a:solidFill>
                <a:latin typeface="Calibri"/>
              </a:rPr>
              <a:t>under-regularization</a:t>
            </a:r>
            <a:r>
              <a:rPr sz="1400" b="0" i="0">
                <a:solidFill>
                  <a:srgbClr val="555555"/>
                </a:solidFill>
                <a:latin typeface="Calibri"/>
              </a:rPr>
              <a:t> — the paper's augmentation cannot support 518 training images, and every run overfits hard</a:t>
            </a:r>
          </a:p>
          <a:p>
            <a:pPr lvl="1">
              <a:spcAft>
                <a:spcPts val="1100"/>
              </a:spcAft>
            </a:pPr>
            <a:r>
              <a:rPr sz="1400" b="0" i="0">
                <a:solidFill>
                  <a:srgbClr val="555555"/>
                </a:solidFill>
                <a:latin typeface="Calibri"/>
              </a:rPr>
              <a:t>Two </a:t>
            </a:r>
            <a:r>
              <a:rPr sz="1400" b="1" i="0">
                <a:solidFill>
                  <a:srgbClr val="555555"/>
                </a:solidFill>
                <a:latin typeface="Calibri"/>
              </a:rPr>
              <a:t>training-recipe</a:t>
            </a:r>
            <a:r>
              <a:rPr sz="1400" b="0" i="0">
                <a:solidFill>
                  <a:srgbClr val="555555"/>
                </a:solidFill>
                <a:latin typeface="Calibri"/>
              </a:rPr>
              <a:t> changes recover ~70% of the gap: augmentation (+0.040) then Focal Tversky loss (+0.013) — </a:t>
            </a:r>
            <a:r>
              <a:rPr sz="1400" b="1" i="0">
                <a:solidFill>
                  <a:srgbClr val="555555"/>
                </a:solidFill>
                <a:latin typeface="Calibri"/>
              </a:rPr>
              <a:t>0.5931 → 0.6461</a:t>
            </a:r>
            <a:r>
              <a:rPr sz="1400" b="0" i="0">
                <a:solidFill>
                  <a:srgbClr val="555555"/>
                </a:solidFill>
                <a:latin typeface="Calibri"/>
              </a:rPr>
              <a:t>, at zero added cost</a:t>
            </a:r>
          </a:p>
          <a:p>
            <a:pPr lvl="1">
              <a:spcAft>
                <a:spcPts val="1100"/>
              </a:spcAft>
            </a:pPr>
            <a:r>
              <a:rPr sz="1400" b="0" i="0">
                <a:solidFill>
                  <a:srgbClr val="555555"/>
                </a:solidFill>
                <a:latin typeface="Calibri"/>
              </a:rPr>
              <a:t>The architectural modifications from follow-up papers recovered </a:t>
            </a:r>
            <a:r>
              <a:rPr sz="1400" b="1" i="0">
                <a:solidFill>
                  <a:srgbClr val="555555"/>
                </a:solidFill>
                <a:latin typeface="Calibri"/>
              </a:rPr>
              <a:t>essentially nothing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5321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000000"/>
                </a:solidFill>
                <a:latin typeface="Calibri"/>
              </a:rPr>
              <a:t>Takeaway: for this network on this dataset, the training recipe mattered far more than the architecture.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Appendix: qualitative results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Best, median and worst cases from the held-out split</a:t>
            </a:r>
          </a:p>
        </p:txBody>
      </p:sp>
      <p:pic>
        <p:nvPicPr>
          <p:cNvPr id="3" name="Picture 2" descr="fig4_qualitat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7292" y="1234440"/>
            <a:ext cx="4757110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The failure case (bottom): the model responds to hypoechoic regions at the top of the image while missing the small true lesion — small lesions on noisy scans remain hard.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Appendix: what Focal Tversky actually changed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The loss shifts the model toward finding tumour, at some cost in false alarms</a:t>
            </a:r>
          </a:p>
        </p:txBody>
      </p:sp>
      <p:pic>
        <p:nvPicPr>
          <p:cNvPr id="3" name="Picture 2" descr="fig7_precision_rec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4007" y="1371600"/>
            <a:ext cx="6583680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Recall +0.065, precision −0.042 — the asymmetry the Tversky β&gt;α weighting was chosen to produce. Clinically the right direction: a missed tumour costs more than a second look.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4878</TotalTime>
  <Words>8173</Words>
  <Application>Microsoft Office PowerPoint</Application>
  <PresentationFormat>Widescreen</PresentationFormat>
  <Paragraphs>748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UNeXt: MLP-based Rapid Medical Image Segmentation Network</dc:title>
  <dc:subject>Reproduction study on the BUSI breast-ultrasound dataset</dc:subject>
  <dc:creator>Deep Learning 83882 - final project</dc:creator>
  <cp:keywords/>
  <dc:description/>
  <cp:lastModifiedBy>David Sheinenzon</cp:lastModifiedBy>
  <cp:revision>3</cp:revision>
  <dcterms:created xsi:type="dcterms:W3CDTF">2013-01-27T09:14:16Z</dcterms:created>
  <dcterms:modified xsi:type="dcterms:W3CDTF">2026-08-22T20:16:59Z</dcterms:modified>
  <cp:category/>
</cp:coreProperties>
</file>